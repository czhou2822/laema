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99f99e39824724" /><Relationship Type="http://schemas.openxmlformats.org/officeDocument/2006/relationships/extended-properties" Target="/docProps/app.xml" Id="R8395ebcc454143f3" /><Relationship Type="http://schemas.openxmlformats.org/officeDocument/2006/relationships/officeDocument" Target="/ppt/presentation.xml" Id="R3cdfc103c95a44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950cced2fe4a36"/>
  </p:sldMasterIdLst>
  <p:notesMasterIdLst>
    <p:notesMasterId xmlns:r="http://schemas.openxmlformats.org/officeDocument/2006/relationships" r:id="R28739ac5fdd149a4"/>
  </p:notesMasterIdLst>
  <p:sldIdLst>
    <p:sldId xmlns:r="http://schemas.openxmlformats.org/officeDocument/2006/relationships" id="256" r:id="R3263102673a04516"/>
    <p:sldId xmlns:r="http://schemas.openxmlformats.org/officeDocument/2006/relationships" id="257" r:id="R6cfd0867332f43ed"/>
    <p:sldId xmlns:r="http://schemas.openxmlformats.org/officeDocument/2006/relationships" id="258" r:id="R42ff749e59ff44cd"/>
    <p:sldId xmlns:r="http://schemas.openxmlformats.org/officeDocument/2006/relationships" id="259" r:id="Rcf0d9a3afba34b67"/>
    <p:sldId xmlns:r="http://schemas.openxmlformats.org/officeDocument/2006/relationships" id="260" r:id="R6a6d72ba3b41460c"/>
    <p:sldId xmlns:r="http://schemas.openxmlformats.org/officeDocument/2006/relationships" id="261" r:id="Rc8bcc19a170646fe"/>
    <p:sldId xmlns:r="http://schemas.openxmlformats.org/officeDocument/2006/relationships" id="262" r:id="R2f3c0a7389924a14"/>
    <p:sldId xmlns:r="http://schemas.openxmlformats.org/officeDocument/2006/relationships" id="263" r:id="R2438bdf2de634978"/>
    <p:sldId xmlns:r="http://schemas.openxmlformats.org/officeDocument/2006/relationships" id="264" r:id="R38f58e06fe0d4616"/>
    <p:sldId xmlns:r="http://schemas.openxmlformats.org/officeDocument/2006/relationships" id="265" r:id="R2130e8812a3b4346"/>
    <p:sldId xmlns:r="http://schemas.openxmlformats.org/officeDocument/2006/relationships" id="266" r:id="R3d9f525fdf4b4e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32a53c85244fee" /><Relationship Type="http://schemas.openxmlformats.org/officeDocument/2006/relationships/slideMaster" Target="/ppt/slideMasters/slideMaster1.xml" Id="R01950cced2fe4a36" /><Relationship Type="http://schemas.openxmlformats.org/officeDocument/2006/relationships/notesMaster" Target="/ppt/notesMasters/notesMaster1.xml" Id="R28739ac5fdd149a4" /><Relationship Type="http://schemas.openxmlformats.org/officeDocument/2006/relationships/presProps" Target="/ppt/presProps.xml" Id="R1b10f1cacaa043bd" /><Relationship Type="http://schemas.openxmlformats.org/officeDocument/2006/relationships/tableStyles" Target="/ppt/tableStyles.xml" Id="R6270a17d3e954d84" /><Relationship Type="http://schemas.openxmlformats.org/officeDocument/2006/relationships/slide" Target="/ppt/slides/slide1.xml" Id="R3263102673a04516" /><Relationship Type="http://schemas.openxmlformats.org/officeDocument/2006/relationships/slide" Target="/ppt/slides/slide2.xml" Id="R6cfd0867332f43ed" /><Relationship Type="http://schemas.openxmlformats.org/officeDocument/2006/relationships/slide" Target="/ppt/slides/slide3.xml" Id="R42ff749e59ff44cd" /><Relationship Type="http://schemas.openxmlformats.org/officeDocument/2006/relationships/slide" Target="/ppt/slides/slide4.xml" Id="Rcf0d9a3afba34b67" /><Relationship Type="http://schemas.openxmlformats.org/officeDocument/2006/relationships/slide" Target="/ppt/slides/slide5.xml" Id="R6a6d72ba3b41460c" /><Relationship Type="http://schemas.openxmlformats.org/officeDocument/2006/relationships/slide" Target="/ppt/slides/slide6.xml" Id="Rc8bcc19a170646fe" /><Relationship Type="http://schemas.openxmlformats.org/officeDocument/2006/relationships/slide" Target="/ppt/slides/slide7.xml" Id="R2f3c0a7389924a14" /><Relationship Type="http://schemas.openxmlformats.org/officeDocument/2006/relationships/slide" Target="/ppt/slides/slide8.xml" Id="R2438bdf2de634978" /><Relationship Type="http://schemas.openxmlformats.org/officeDocument/2006/relationships/slide" Target="/ppt/slides/slide9.xml" Id="R38f58e06fe0d4616" /><Relationship Type="http://schemas.openxmlformats.org/officeDocument/2006/relationships/slide" Target="/ppt/slides/slide10.xml" Id="R2130e8812a3b4346" /><Relationship Type="http://schemas.openxmlformats.org/officeDocument/2006/relationships/slide" Target="/ppt/slides/slide11.xml" Id="R3d9f525fdf4b4e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795f36408e4e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cd9a295fd74f7e" /><Relationship Type="http://schemas.openxmlformats.org/officeDocument/2006/relationships/notesMaster" Target="/ppt/notesMasters/notesMaster1.xml" Id="Re989b3f940aa4f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b9ac6b50644706" /><Relationship Type="http://schemas.openxmlformats.org/officeDocument/2006/relationships/notesMaster" Target="/ppt/notesMasters/notesMaster1.xml" Id="Ra01545cf594446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48122be31543bb" /><Relationship Type="http://schemas.openxmlformats.org/officeDocument/2006/relationships/notesMaster" Target="/ppt/notesMasters/notesMaster1.xml" Id="Rb5ef5c893366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72430726a84b87" /><Relationship Type="http://schemas.openxmlformats.org/officeDocument/2006/relationships/notesMaster" Target="/ppt/notesMasters/notesMaster1.xml" Id="R856a9c1c48b0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4085ba075046c0" /><Relationship Type="http://schemas.openxmlformats.org/officeDocument/2006/relationships/notesMaster" Target="/ppt/notesMasters/notesMaster1.xml" Id="Re0b41f79b5c14b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604e8b8c134f1a" /><Relationship Type="http://schemas.openxmlformats.org/officeDocument/2006/relationships/notesMaster" Target="/ppt/notesMasters/notesMaster1.xml" Id="R8a812e2636184e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f8e830b42c4217" /><Relationship Type="http://schemas.openxmlformats.org/officeDocument/2006/relationships/notesMaster" Target="/ppt/notesMasters/notesMaster1.xml" Id="R84dcfd729c6543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8d77674ea44793" /><Relationship Type="http://schemas.openxmlformats.org/officeDocument/2006/relationships/notesMaster" Target="/ppt/notesMasters/notesMaster1.xml" Id="Ra92c3ab9feaf48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36ffe6ae61459c" /><Relationship Type="http://schemas.openxmlformats.org/officeDocument/2006/relationships/notesMaster" Target="/ppt/notesMasters/notesMaster1.xml" Id="R0a9d8cfeb39049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f2fb67fba042cf" /><Relationship Type="http://schemas.openxmlformats.org/officeDocument/2006/relationships/notesMaster" Target="/ppt/notesMasters/notesMaster1.xml" Id="R2640d3d623a04e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c1cb1ea6744ec8" /><Relationship Type="http://schemas.openxmlformats.org/officeDocument/2006/relationships/notesMaster" Target="/ppt/notesMasters/notesMaster1.xml" Id="R902dae21e0c346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player promise. This is a combat-systems pitch, not a claim that final presentation or full game scope is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session as a product and design discussion. The proposed decision is deliberately scoped: advance to the next validation slice, not final production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intended experience: deliberate combat mastery through construction, pressure, and timing. Do not introduce final-product narrative promises; they are not established in the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loop once. Successful X attacks generate elemental orbs; R2 marks them; a full pressure entry commits the cast; composition determines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make the chain rule tangible. Note that buffered inputs can be promoted when the valid timing window opens; that strengthens intentional timing rather than adding a separate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current prototype specialties, not a final balance claim. Explain that mixed queues resolve to a primary school plus a qualifying secondary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the semantics: charging can happen while attacking; CAST fires once on entry; marked orbs are consumed immediately and are not refunded if an interrupted cast never launches.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evidence boundary exactly. The user-reported 25 Aug 2026 Godot validation applies to the expanded prototype baseline at 358684b. The later Might/Magic restructure remains awaiting user validation; no agent-run runtime, build, compiler, or automated-test evidence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credibility guardrail. The docs explicitly defer active Enemy behavior, incoming attack/defence validation, final art, final tuning, complete enemies, and more. Do not soften it into a vague caveat.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 this as a proposal and a documented candidate awaiting user validation. The records describe the Arena-owned Stage Director and distinct final Enemy, but the candidate has not been run in Godot or exercised by build, compiler, or automated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central question. Invite discussion on the proposed next validation slice, not on uncommitted final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docs/IMPLEMENTATION_STATUS.md; docs/TECH_ARCHITECTURE.md;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a6d8eb74343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afb0d2e337439f" /><Relationship Type="http://schemas.openxmlformats.org/officeDocument/2006/relationships/slideLayout" Target="/ppt/slideLayouts/slideLayout1.xml" Id="Rd71a73a9ec7442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1a73a9ec7442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410283b034716" /><Relationship Type="http://schemas.openxmlformats.org/officeDocument/2006/relationships/notesSlide" Target="/ppt/notesSlides/notesSlide1.xml" Id="R47ef7d8ce3f0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4055ede084dc3" /><Relationship Type="http://schemas.openxmlformats.org/officeDocument/2006/relationships/notesSlide" Target="/ppt/notesSlides/notesSlide2.xml" Id="R846de34d77dd46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d870b27654b1c" /><Relationship Type="http://schemas.openxmlformats.org/officeDocument/2006/relationships/notesSlide" Target="/ppt/notesSlides/notesSlide3.xml" Id="Rd802f295b46e49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2aef446d7468c" /><Relationship Type="http://schemas.openxmlformats.org/officeDocument/2006/relationships/notesSlide" Target="/ppt/notesSlides/notesSlide4.xml" Id="R341fa5fd930041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b9c9325854b94" /><Relationship Type="http://schemas.openxmlformats.org/officeDocument/2006/relationships/notesSlide" Target="/ppt/notesSlides/notesSlide5.xml" Id="R47d3ec90f27a45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87a6f56d04175" /><Relationship Type="http://schemas.openxmlformats.org/officeDocument/2006/relationships/notesSlide" Target="/ppt/notesSlides/notesSlide6.xml" Id="R5b80cbe3b8d94b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0f2833c5245b0" /><Relationship Type="http://schemas.openxmlformats.org/officeDocument/2006/relationships/notesSlide" Target="/ppt/notesSlides/notesSlide7.xml" Id="R25bc347a261142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a0fb08cd74be8" /><Relationship Type="http://schemas.openxmlformats.org/officeDocument/2006/relationships/notesSlide" Target="/ppt/notesSlides/notesSlide8.xml" Id="R075a74ff04d944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1aed618014c9b" /><Relationship Type="http://schemas.openxmlformats.org/officeDocument/2006/relationships/notesSlide" Target="/ppt/notesSlides/notesSlide9.xml" Id="R42f0b6e556e141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002f50fc444f5" /><Relationship Type="http://schemas.openxmlformats.org/officeDocument/2006/relationships/notesSlide" Target="/ppt/notesSlides/notesSlide10.xml" Id="R4fd7f7dcbf0541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6ac8304dd4f64" /><Relationship Type="http://schemas.openxmlformats.org/officeDocument/2006/relationships/notesSlide" Target="/ppt/notesSlides/notesSlide11.xml" Id="Rc8270ecb310b40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E9269136-D20B-44D8-AE78-0596ACA9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4D8294BF-F5ED-49A3-9065-D75707F0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516542-D0E0-4DCA-B13D-DE109E0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3950"/>
            <a:ext cx="9525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Build the spell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while you fight.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5EBDA19-A0F6-4D33-AC54-E4E7F34B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6646D"/>
                </a:solidFill>
              </a:defRPr>
            </a:pPr>
            <a:r>
              <a:rPr sz="2175" b="0">
                <a:solidFill>
                  <a:srgbClr val="56646D"/>
                </a:solidFill>
              </a:rPr>
              <a:t>A side-scrolling elemental combat prototype built around deliberate mastery.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6E147B8-3171-479F-849A-88E53B14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646D"/>
                </a:solidFill>
              </a:defRPr>
            </a:pPr>
            <a:r>
              <a:rPr sz="1125" b="1">
                <a:solidFill>
                  <a:srgbClr val="56646D"/>
                </a:solidFill>
              </a:rPr>
              <a:t>INTERNAL COMBAT PITCH</a:t>
            </a:r>
          </a:p>
        </p:txBody>
      </p:sp>
      <p:sp>
        <p:nvSpPr>
          <p:cNvPr id="6" name="project">
            <a:extLst xmlns:a="http://schemas.openxmlformats.org/drawingml/2006/main">
              <a:ext uri="{FF2B5EF4-FFF2-40B4-BE49-F238E27FC236}">
                <a16:creationId xmlns:a16="http://schemas.microsoft.com/office/drawing/2014/main" id="{EA96A354-1EF6-4403-89AD-584F69E3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Laema</a:t>
            </a:r>
          </a:p>
        </p:txBody>
      </p:sp>
      <p:sp>
        <p:nvSpPr>
          <p:cNvPr id="7" name="orb-0">
            <a:extLst xmlns:a="http://schemas.openxmlformats.org/drawingml/2006/main">
              <a:ext uri="{FF2B5EF4-FFF2-40B4-BE49-F238E27FC236}">
                <a16:creationId xmlns:a16="http://schemas.microsoft.com/office/drawing/2014/main" id="{F1EA27F9-9DB3-437F-9758-FBE49F1C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81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solidFill>
              <a:srgbClr val="F05B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rb-1">
            <a:extLst xmlns:a="http://schemas.openxmlformats.org/drawingml/2006/main">
              <a:ext uri="{FF2B5EF4-FFF2-40B4-BE49-F238E27FC236}">
                <a16:creationId xmlns:a16="http://schemas.microsoft.com/office/drawing/2014/main" id="{AE77806C-4CCF-4970-BB98-189883EC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67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orb-2">
            <a:extLst xmlns:a="http://schemas.openxmlformats.org/drawingml/2006/main">
              <a:ext uri="{FF2B5EF4-FFF2-40B4-BE49-F238E27FC236}">
                <a16:creationId xmlns:a16="http://schemas.microsoft.com/office/drawing/2014/main" id="{540D977E-A1A1-4C88-B278-1B628E6D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rb-3">
            <a:extLst xmlns:a="http://schemas.openxmlformats.org/drawingml/2006/main">
              <a:ext uri="{FF2B5EF4-FFF2-40B4-BE49-F238E27FC236}">
                <a16:creationId xmlns:a16="http://schemas.microsoft.com/office/drawing/2014/main" id="{40E18730-5C1B-4993-AD0D-8402C898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38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solidFill>
              <a:srgbClr val="A78A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</p:spTree>
    <p:extLst>
      <p:ext uri="{BB962C8B-B14F-4D97-AF65-F5344CB8AC3E}">
        <p14:creationId xmlns:p14="http://schemas.microsoft.com/office/powerpoint/2010/main" val="1142650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BDC75A48-1B32-4DF9-B71F-12F4D7D5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THE DISCUSSION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B0BD35-58BE-4FEE-A347-607CA314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BEDDE-B693-4774-9E9B-07160A6E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C089E1-46E4-42A0-B903-B2769C3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620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0212B"/>
                </a:solidFill>
              </a:defRPr>
            </a:pPr>
            <a:r>
              <a:rPr sz="3375" b="1">
                <a:solidFill>
                  <a:srgbClr val="10212B"/>
                </a:solidFill>
              </a:rPr>
              <a:t>The decision: has the combat premise earned its next validation slice?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4E48D79-8379-4D4F-A0AE-B8395B69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6646D"/>
                </a:solidFill>
              </a:defRPr>
            </a:pPr>
            <a:r>
              <a:rPr sz="2025" b="0">
                <a:solidFill>
                  <a:srgbClr val="56646D"/>
                </a:solidFill>
              </a:rPr>
              <a:t>This pitch separates three things: the player experience we are testing, the playable proof already in the committed prototype, and the work that still needs validation.</a:t>
            </a:r>
          </a:p>
        </p:txBody>
      </p:sp>
      <p:sp>
        <p:nvSpPr>
          <p:cNvPr id="6" name="decision-panel">
            <a:extLst xmlns:a="http://schemas.openxmlformats.org/drawingml/2006/main">
              <a:ext uri="{FF2B5EF4-FFF2-40B4-BE49-F238E27FC236}">
                <a16:creationId xmlns:a16="http://schemas.microsoft.com/office/drawing/2014/main" id="{16E6C6EF-15C5-499C-8876-FE7E9939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194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6936AFD5-67C7-4D16-9A3E-3A52551D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621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6646D"/>
                </a:solidFill>
              </a:defRPr>
            </a:pPr>
            <a:r>
              <a:rPr sz="1650" b="1">
                <a:solidFill>
                  <a:srgbClr val="56646D"/>
                </a:solidFill>
              </a:rPr>
              <a:t>Today’s question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33BA9A3E-323A-4751-AD09-47D84D10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057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12B"/>
                </a:solidFill>
              </a:defRPr>
            </a:pPr>
            <a:r>
              <a:rPr sz="2175" b="1">
                <a:solidFill>
                  <a:srgbClr val="10212B"/>
                </a:solidFill>
              </a:rPr>
              <a:t>Does this loop create enough player expression to justify the next playable encounter?</a:t>
            </a:r>
          </a:p>
        </p:txBody>
      </p:sp>
    </p:spTree>
    <p:extLst>
      <p:ext uri="{BB962C8B-B14F-4D97-AF65-F5344CB8AC3E}">
        <p14:creationId xmlns:p14="http://schemas.microsoft.com/office/powerpoint/2010/main" val="18943968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F1EFE596-853C-4895-BCF2-BF85E53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PLAYER PROMISE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A3B408-9279-40A8-A8CC-31218BA3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22421-ADB8-4292-AF51-32AC23FA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9667CB-5E74-4F1A-AD4C-8C00692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12B"/>
                </a:solidFill>
              </a:defRPr>
            </a:pPr>
            <a:r>
              <a:rPr sz="3225" b="1">
                <a:solidFill>
                  <a:srgbClr val="10212B"/>
                </a:solidFill>
              </a:rPr>
              <a:t>Combat mastery comes from constructing an answer under pressure.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5A5D108-71F1-4152-8289-BF8B33AF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6646D"/>
                </a:solidFill>
              </a:defRPr>
            </a:pPr>
            <a:r>
              <a:rPr sz="2025" b="0">
                <a:solidFill>
                  <a:srgbClr val="56646D"/>
                </a:solidFill>
              </a:rPr>
              <a:t>The player does not merely select a spell from a cooldown bar. They earn elemental material through actions, decide when to charge it, and commit it at a meaningful moment in the chain.</a:t>
            </a:r>
          </a:p>
        </p:txBody>
      </p:sp>
      <p:sp>
        <p:nvSpPr>
          <p:cNvPr id="6" name="claim">
            <a:extLst xmlns:a="http://schemas.openxmlformats.org/drawingml/2006/main">
              <a:ext uri="{FF2B5EF4-FFF2-40B4-BE49-F238E27FC236}">
                <a16:creationId xmlns:a16="http://schemas.microsoft.com/office/drawing/2014/main" id="{BF25812F-1940-4066-9D4B-E32BF193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38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034FD491-F322-4629-9731-658B084E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33D0D83-BA88-4DA0-8EE8-B5ACBE9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Sequence</a:t>
            </a:r>
          </a:p>
        </p:txBody>
      </p:sp>
      <p:sp>
        <p:nvSpPr>
          <p:cNvPr id="9" name="claim-body">
            <a:extLst xmlns:a="http://schemas.openxmlformats.org/drawingml/2006/main">
              <a:ext uri="{FF2B5EF4-FFF2-40B4-BE49-F238E27FC236}">
                <a16:creationId xmlns:a16="http://schemas.microsoft.com/office/drawing/2014/main" id="{B3975383-9A5F-4F4C-8770-5521ED5C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46D"/>
                </a:solidFill>
              </a:defRPr>
            </a:pPr>
            <a:r>
              <a:rPr sz="1500" b="0">
                <a:solidFill>
                  <a:srgbClr val="56646D"/>
                </a:solidFill>
              </a:rPr>
              <a:t>Which elements did I build?</a:t>
            </a:r>
          </a:p>
        </p:txBody>
      </p:sp>
      <p:sp>
        <p:nvSpPr>
          <p:cNvPr id="10" name="claim">
            <a:extLst xmlns:a="http://schemas.openxmlformats.org/drawingml/2006/main">
              <a:ext uri="{FF2B5EF4-FFF2-40B4-BE49-F238E27FC236}">
                <a16:creationId xmlns:a16="http://schemas.microsoft.com/office/drawing/2014/main" id="{ECBDD2FC-359B-402D-A0CE-339FCE01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3238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accent">
            <a:extLst xmlns:a="http://schemas.openxmlformats.org/drawingml/2006/main">
              <a:ext uri="{FF2B5EF4-FFF2-40B4-BE49-F238E27FC236}">
                <a16:creationId xmlns:a16="http://schemas.microsoft.com/office/drawing/2014/main" id="{D884E8D9-6F0C-4E38-9570-DD8A4509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44FCC6E-03D0-4BB4-922C-8F74B82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Pressure</a:t>
            </a:r>
          </a:p>
        </p:txBody>
      </p:sp>
      <p:sp>
        <p:nvSpPr>
          <p:cNvPr id="13" name="claim-body">
            <a:extLst xmlns:a="http://schemas.openxmlformats.org/drawingml/2006/main">
              <a:ext uri="{FF2B5EF4-FFF2-40B4-BE49-F238E27FC236}">
                <a16:creationId xmlns:a16="http://schemas.microsoft.com/office/drawing/2014/main" id="{E9B658C6-EDE0-4085-8E11-85DAF456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48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46D"/>
                </a:solidFill>
              </a:defRPr>
            </a:pPr>
            <a:r>
              <a:rPr sz="1500" b="0">
                <a:solidFill>
                  <a:srgbClr val="56646D"/>
                </a:solidFill>
              </a:rPr>
              <a:t>When do I hold or release?</a:t>
            </a:r>
          </a:p>
        </p:txBody>
      </p:sp>
      <p:sp>
        <p:nvSpPr>
          <p:cNvPr id="14" name="claim">
            <a:extLst xmlns:a="http://schemas.openxmlformats.org/drawingml/2006/main">
              <a:ext uri="{FF2B5EF4-FFF2-40B4-BE49-F238E27FC236}">
                <a16:creationId xmlns:a16="http://schemas.microsoft.com/office/drawing/2014/main" id="{7F5112E9-494D-4980-B29F-CAE8BFA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238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accent">
            <a:extLst xmlns:a="http://schemas.openxmlformats.org/drawingml/2006/main">
              <a:ext uri="{FF2B5EF4-FFF2-40B4-BE49-F238E27FC236}">
                <a16:creationId xmlns:a16="http://schemas.microsoft.com/office/drawing/2014/main" id="{F4A78AEF-0E64-4115-BC3C-71901B89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5F91E12-9309-4214-B497-1E075C09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Timing</a:t>
            </a:r>
          </a:p>
        </p:txBody>
      </p:sp>
      <p:sp>
        <p:nvSpPr>
          <p:cNvPr id="17" name="claim-body">
            <a:extLst xmlns:a="http://schemas.openxmlformats.org/drawingml/2006/main">
              <a:ext uri="{FF2B5EF4-FFF2-40B4-BE49-F238E27FC236}">
                <a16:creationId xmlns:a16="http://schemas.microsoft.com/office/drawing/2014/main" id="{64710DC6-3E6F-4E3B-9EE1-5D6433E1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46D"/>
                </a:solidFill>
              </a:defRPr>
            </a:pPr>
            <a:r>
              <a:rPr sz="1500" b="0">
                <a:solidFill>
                  <a:srgbClr val="56646D"/>
                </a:solidFill>
              </a:rPr>
              <a:t>Can I preserve momentum?</a:t>
            </a:r>
          </a:p>
        </p:txBody>
      </p:sp>
    </p:spTree>
    <p:extLst>
      <p:ext uri="{BB962C8B-B14F-4D97-AF65-F5344CB8AC3E}">
        <p14:creationId xmlns:p14="http://schemas.microsoft.com/office/powerpoint/2010/main" val="8213490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65949069-5D7B-4743-84C3-1C1108E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CORE LOOP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8DD0B5-1DE5-4439-A23B-9E39471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0BFE8-B84B-424E-9921-22C321E0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648817-335D-45C8-B3D6-E51DCD11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12B"/>
                </a:solidFill>
              </a:defRPr>
            </a:pPr>
            <a:r>
              <a:rPr sz="3225" b="1">
                <a:solidFill>
                  <a:srgbClr val="10212B"/>
                </a:solidFill>
              </a:rPr>
              <a:t>Every successful exchange feeds the next decision.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3D876D0A-B703-4AAB-9659-286E6118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E53FBD95-16F4-4639-82EF-4593868B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9E26C19-C878-470A-A958-11EC2560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8" name="loop-node">
            <a:extLst xmlns:a="http://schemas.openxmlformats.org/drawingml/2006/main">
              <a:ext uri="{FF2B5EF4-FFF2-40B4-BE49-F238E27FC236}">
                <a16:creationId xmlns:a16="http://schemas.microsoft.com/office/drawing/2014/main" id="{35045797-EC6A-4EF9-92CF-031E4E7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oop-accent">
            <a:extLst xmlns:a="http://schemas.openxmlformats.org/drawingml/2006/main">
              <a:ext uri="{FF2B5EF4-FFF2-40B4-BE49-F238E27FC236}">
                <a16:creationId xmlns:a16="http://schemas.microsoft.com/office/drawing/2014/main" id="{AC235EDE-55D4-4595-94E5-516408E5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head">
            <a:extLst xmlns:a="http://schemas.openxmlformats.org/drawingml/2006/main">
              <a:ext uri="{FF2B5EF4-FFF2-40B4-BE49-F238E27FC236}">
                <a16:creationId xmlns:a16="http://schemas.microsoft.com/office/drawing/2014/main" id="{498DD29E-22F7-48B4-952B-02EFFD3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Attack</a:t>
            </a:r>
          </a:p>
        </p:txBody>
      </p:sp>
      <p:sp>
        <p:nvSpPr>
          <p:cNvPr id="11" name="loop-body">
            <a:extLst xmlns:a="http://schemas.openxmlformats.org/drawingml/2006/main">
              <a:ext uri="{FF2B5EF4-FFF2-40B4-BE49-F238E27FC236}">
                <a16:creationId xmlns:a16="http://schemas.microsoft.com/office/drawing/2014/main" id="{6E165173-0536-4EFC-A605-46710CE4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Hit an Enemy</a:t>
            </a:r>
          </a:p>
        </p:txBody>
      </p:sp>
      <p:sp>
        <p:nvSpPr>
          <p:cNvPr id="12" name="loop-node">
            <a:extLst xmlns:a="http://schemas.openxmlformats.org/drawingml/2006/main">
              <a:ext uri="{FF2B5EF4-FFF2-40B4-BE49-F238E27FC236}">
                <a16:creationId xmlns:a16="http://schemas.microsoft.com/office/drawing/2014/main" id="{4B0F37BC-0B96-47A1-BC3E-E9F747C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accent">
            <a:extLst xmlns:a="http://schemas.openxmlformats.org/drawingml/2006/main">
              <a:ext uri="{FF2B5EF4-FFF2-40B4-BE49-F238E27FC236}">
                <a16:creationId xmlns:a16="http://schemas.microsoft.com/office/drawing/2014/main" id="{5BAA2E22-BBB4-4F65-AA1D-B8D1C891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head">
            <a:extLst xmlns:a="http://schemas.openxmlformats.org/drawingml/2006/main">
              <a:ext uri="{FF2B5EF4-FFF2-40B4-BE49-F238E27FC236}">
                <a16:creationId xmlns:a16="http://schemas.microsoft.com/office/drawing/2014/main" id="{06DE6434-C24C-4F19-9780-14B857DD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Build</a:t>
            </a:r>
          </a:p>
        </p:txBody>
      </p:sp>
      <p:sp>
        <p:nvSpPr>
          <p:cNvPr id="15" name="loop-body">
            <a:extLst xmlns:a="http://schemas.openxmlformats.org/drawingml/2006/main">
              <a:ext uri="{FF2B5EF4-FFF2-40B4-BE49-F238E27FC236}">
                <a16:creationId xmlns:a16="http://schemas.microsoft.com/office/drawing/2014/main" id="{2387FF27-B7D9-427E-8776-FB0D3A4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Earn elemental orbs</a:t>
            </a:r>
          </a:p>
        </p:txBody>
      </p:sp>
      <p:sp>
        <p:nvSpPr>
          <p:cNvPr id="16" name="loop-node">
            <a:extLst xmlns:a="http://schemas.openxmlformats.org/drawingml/2006/main">
              <a:ext uri="{FF2B5EF4-FFF2-40B4-BE49-F238E27FC236}">
                <a16:creationId xmlns:a16="http://schemas.microsoft.com/office/drawing/2014/main" id="{3E5A1399-0CC6-4500-AB8A-F72F22A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accent">
            <a:extLst xmlns:a="http://schemas.openxmlformats.org/drawingml/2006/main">
              <a:ext uri="{FF2B5EF4-FFF2-40B4-BE49-F238E27FC236}">
                <a16:creationId xmlns:a16="http://schemas.microsoft.com/office/drawing/2014/main" id="{06C361BA-9607-486D-AD7A-B17FA1C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head">
            <a:extLst xmlns:a="http://schemas.openxmlformats.org/drawingml/2006/main">
              <a:ext uri="{FF2B5EF4-FFF2-40B4-BE49-F238E27FC236}">
                <a16:creationId xmlns:a16="http://schemas.microsoft.com/office/drawing/2014/main" id="{AB5AA454-C903-42F3-9A91-CF985193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Charge</a:t>
            </a:r>
          </a:p>
        </p:txBody>
      </p:sp>
      <p:sp>
        <p:nvSpPr>
          <p:cNvPr id="19" name="loop-body">
            <a:extLst xmlns:a="http://schemas.openxmlformats.org/drawingml/2006/main">
              <a:ext uri="{FF2B5EF4-FFF2-40B4-BE49-F238E27FC236}">
                <a16:creationId xmlns:a16="http://schemas.microsoft.com/office/drawing/2014/main" id="{FDB2F799-45F3-4D8F-BFAA-A3833DD3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Mark the queue with R2</a:t>
            </a:r>
          </a:p>
        </p:txBody>
      </p:sp>
      <p:sp>
        <p:nvSpPr>
          <p:cNvPr id="20" name="loop-node">
            <a:extLst xmlns:a="http://schemas.openxmlformats.org/drawingml/2006/main">
              <a:ext uri="{FF2B5EF4-FFF2-40B4-BE49-F238E27FC236}">
                <a16:creationId xmlns:a16="http://schemas.microsoft.com/office/drawing/2014/main" id="{832B0D67-532A-45E4-8EB4-1F0A7AEE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2479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oop-accent">
            <a:extLst xmlns:a="http://schemas.openxmlformats.org/drawingml/2006/main">
              <a:ext uri="{FF2B5EF4-FFF2-40B4-BE49-F238E27FC236}">
                <a16:creationId xmlns:a16="http://schemas.microsoft.com/office/drawing/2014/main" id="{06B5516F-7EB8-4348-A771-21D4C39F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247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head">
            <a:extLst xmlns:a="http://schemas.openxmlformats.org/drawingml/2006/main">
              <a:ext uri="{FF2B5EF4-FFF2-40B4-BE49-F238E27FC236}">
                <a16:creationId xmlns:a16="http://schemas.microsoft.com/office/drawing/2014/main" id="{1EFA45E9-A2AA-4CCE-A24D-196BA322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12B"/>
                </a:solidFill>
              </a:defRPr>
            </a:pPr>
            <a:r>
              <a:rPr sz="2100" b="1">
                <a:solidFill>
                  <a:srgbClr val="10212B"/>
                </a:solidFill>
              </a:rPr>
              <a:t>Cast</a:t>
            </a:r>
          </a:p>
        </p:txBody>
      </p:sp>
      <p:sp>
        <p:nvSpPr>
          <p:cNvPr id="23" name="loop-body">
            <a:extLst xmlns:a="http://schemas.openxmlformats.org/drawingml/2006/main">
              <a:ext uri="{FF2B5EF4-FFF2-40B4-BE49-F238E27FC236}">
                <a16:creationId xmlns:a16="http://schemas.microsoft.com/office/drawing/2014/main" id="{A9F6EC8E-8DF7-4746-ABC0-1B381A7A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Commit the resolved spell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ADC0F811-F91D-4194-ADF5-5A992823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The spell is not preselected; it emerges from the sequence the player has made.</a:t>
            </a:r>
          </a:p>
        </p:txBody>
      </p:sp>
    </p:spTree>
    <p:extLst>
      <p:ext uri="{BB962C8B-B14F-4D97-AF65-F5344CB8AC3E}">
        <p14:creationId xmlns:p14="http://schemas.microsoft.com/office/powerpoint/2010/main" val="3378664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C42F2F5E-1691-4E77-8C64-409A7905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FIVE POSITIONS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8CB01C-5105-4437-897B-3FAB1AD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D4F9D-CE61-4FC0-BC23-EB36A355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25C2AF-5A78-451E-9B8F-198BE6A7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A five-position chain makes casting part of the combo—not an interruption to it.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1C073EC-3D99-4876-87D1-38A97BBA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6646D"/>
                </a:solidFill>
              </a:defRPr>
            </a:pPr>
            <a:r>
              <a:rPr sz="1875" b="0">
                <a:solidFill>
                  <a:srgbClr val="56646D"/>
                </a:solidFill>
              </a:rPr>
              <a:t>X attacks and successful mid-chain Casts each occupy a position. After position five, one optional endpoint Cast can close the chain.</a:t>
            </a:r>
          </a:p>
        </p:txBody>
      </p:sp>
      <p:sp>
        <p:nvSpPr>
          <p:cNvPr id="6" name="chain-step">
            <a:extLst xmlns:a="http://schemas.openxmlformats.org/drawingml/2006/main">
              <a:ext uri="{FF2B5EF4-FFF2-40B4-BE49-F238E27FC236}">
                <a16:creationId xmlns:a16="http://schemas.microsoft.com/office/drawing/2014/main" id="{68ACC74F-35E6-4D41-B157-EB604FDC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7" name="chain-label">
            <a:extLst xmlns:a="http://schemas.openxmlformats.org/drawingml/2006/main">
              <a:ext uri="{FF2B5EF4-FFF2-40B4-BE49-F238E27FC236}">
                <a16:creationId xmlns:a16="http://schemas.microsoft.com/office/drawing/2014/main" id="{768B7849-4B76-4256-B09E-DAA71A80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1703F-ED0E-4E8B-8CFA-47CE8539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chain-step">
            <a:extLst xmlns:a="http://schemas.openxmlformats.org/drawingml/2006/main">
              <a:ext uri="{FF2B5EF4-FFF2-40B4-BE49-F238E27FC236}">
                <a16:creationId xmlns:a16="http://schemas.microsoft.com/office/drawing/2014/main" id="{F0743264-E02A-4222-B73B-5EDB335E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chain-label">
            <a:extLst xmlns:a="http://schemas.openxmlformats.org/drawingml/2006/main">
              <a:ext uri="{FF2B5EF4-FFF2-40B4-BE49-F238E27FC236}">
                <a16:creationId xmlns:a16="http://schemas.microsoft.com/office/drawing/2014/main" id="{1B432314-3DEB-4F62-A39D-3B9A8D1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95826-6BD5-4F0B-8E23-4D9A62A0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chain-step">
            <a:extLst xmlns:a="http://schemas.openxmlformats.org/drawingml/2006/main">
              <a:ext uri="{FF2B5EF4-FFF2-40B4-BE49-F238E27FC236}">
                <a16:creationId xmlns:a16="http://schemas.microsoft.com/office/drawing/2014/main" id="{17EFA034-ACCA-4C05-B943-0F0F2699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3" name="chain-label">
            <a:extLst xmlns:a="http://schemas.openxmlformats.org/drawingml/2006/main">
              <a:ext uri="{FF2B5EF4-FFF2-40B4-BE49-F238E27FC236}">
                <a16:creationId xmlns:a16="http://schemas.microsoft.com/office/drawing/2014/main" id="{009B175D-0EC4-4A54-865E-BD4D2E63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E4506-B339-4AF3-B9F8-A025AC4C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chain-step">
            <a:extLst xmlns:a="http://schemas.openxmlformats.org/drawingml/2006/main">
              <a:ext uri="{FF2B5EF4-FFF2-40B4-BE49-F238E27FC236}">
                <a16:creationId xmlns:a16="http://schemas.microsoft.com/office/drawing/2014/main" id="{D846A1A1-93E3-4577-975D-FF1E98AE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6" name="chain-label">
            <a:extLst xmlns:a="http://schemas.openxmlformats.org/drawingml/2006/main">
              <a:ext uri="{FF2B5EF4-FFF2-40B4-BE49-F238E27FC236}">
                <a16:creationId xmlns:a16="http://schemas.microsoft.com/office/drawing/2014/main" id="{6BD91612-0D1E-4919-A627-088D537A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A42C1-A7C5-4C4C-B7F1-3B80088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chain-step">
            <a:extLst xmlns:a="http://schemas.openxmlformats.org/drawingml/2006/main">
              <a:ext uri="{FF2B5EF4-FFF2-40B4-BE49-F238E27FC236}">
                <a16:creationId xmlns:a16="http://schemas.microsoft.com/office/drawing/2014/main" id="{D18C7198-9EC8-4D57-9F18-55C4266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9" name="chain-label">
            <a:extLst xmlns:a="http://schemas.openxmlformats.org/drawingml/2006/main">
              <a:ext uri="{FF2B5EF4-FFF2-40B4-BE49-F238E27FC236}">
                <a16:creationId xmlns:a16="http://schemas.microsoft.com/office/drawing/2014/main" id="{D8A2275A-370D-47DA-975E-8B7557F7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X5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C8D45-3BF2-41EF-81B5-91503D6C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76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1" name="chain-step">
            <a:extLst xmlns:a="http://schemas.openxmlformats.org/drawingml/2006/main">
              <a:ext uri="{FF2B5EF4-FFF2-40B4-BE49-F238E27FC236}">
                <a16:creationId xmlns:a16="http://schemas.microsoft.com/office/drawing/2014/main" id="{D0BC6644-5646-4A60-8BEF-756DC8A6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ain-label">
            <a:extLst xmlns:a="http://schemas.openxmlformats.org/drawingml/2006/main">
              <a:ext uri="{FF2B5EF4-FFF2-40B4-BE49-F238E27FC236}">
                <a16:creationId xmlns:a16="http://schemas.microsoft.com/office/drawing/2014/main" id="{1E7D5C87-FD5E-49D0-953E-26D97B3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9525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END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CAST</a:t>
            </a:r>
          </a:p>
        </p:txBody>
      </p:sp>
      <p:sp>
        <p:nvSpPr>
          <p:cNvPr id="23" name="takeaway">
            <a:extLst xmlns:a="http://schemas.openxmlformats.org/drawingml/2006/main">
              <a:ext uri="{FF2B5EF4-FFF2-40B4-BE49-F238E27FC236}">
                <a16:creationId xmlns:a16="http://schemas.microsoft.com/office/drawing/2014/main" id="{74CC0DA9-CE8C-43AA-B1B8-3D30896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The player is reading rhythm and opportunity, not just executing a fixed string.</a:t>
            </a:r>
          </a:p>
        </p:txBody>
      </p:sp>
    </p:spTree>
    <p:extLst>
      <p:ext uri="{BB962C8B-B14F-4D97-AF65-F5344CB8AC3E}">
        <p14:creationId xmlns:p14="http://schemas.microsoft.com/office/powerpoint/2010/main" val="8995694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A1F5103B-8643-4F9C-A9D0-75E07E0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ELEMENTAL LANGUAGE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5E286F-6C55-4CBB-AAB6-F2EAD50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A80A5-FD57-4C55-91BB-8E45343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EDA279-D89B-414C-87A1-46CFA92D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212B"/>
                </a:solidFill>
              </a:defRPr>
            </a:pPr>
            <a:r>
              <a:rPr sz="3225" b="1">
                <a:solidFill>
                  <a:srgbClr val="10212B"/>
                </a:solidFill>
              </a:rPr>
              <a:t>The same input loop produces four distinct tactical answers.</a:t>
            </a:r>
          </a:p>
        </p:txBody>
      </p:sp>
      <p:sp>
        <p:nvSpPr>
          <p:cNvPr id="5" name="school">
            <a:extLst xmlns:a="http://schemas.openxmlformats.org/drawingml/2006/main">
              <a:ext uri="{FF2B5EF4-FFF2-40B4-BE49-F238E27FC236}">
                <a16:creationId xmlns:a16="http://schemas.microsoft.com/office/drawing/2014/main" id="{C6003A77-86ED-4A35-B826-419E9186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chool-orb">
            <a:extLst xmlns:a="http://schemas.openxmlformats.org/drawingml/2006/main">
              <a:ext uri="{FF2B5EF4-FFF2-40B4-BE49-F238E27FC236}">
                <a16:creationId xmlns:a16="http://schemas.microsoft.com/office/drawing/2014/main" id="{DE503F8D-473F-4C18-896D-D7D3D987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solidFill>
              <a:srgbClr val="F05B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school-name">
            <a:extLst xmlns:a="http://schemas.openxmlformats.org/drawingml/2006/main">
              <a:ext uri="{FF2B5EF4-FFF2-40B4-BE49-F238E27FC236}">
                <a16:creationId xmlns:a16="http://schemas.microsoft.com/office/drawing/2014/main" id="{C4E1A594-65F2-48ED-8188-352A5931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812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Fire</a:t>
            </a:r>
          </a:p>
        </p:txBody>
      </p:sp>
      <p:sp>
        <p:nvSpPr>
          <p:cNvPr id="8" name="school-desc">
            <a:extLst xmlns:a="http://schemas.openxmlformats.org/drawingml/2006/main">
              <a:ext uri="{FF2B5EF4-FFF2-40B4-BE49-F238E27FC236}">
                <a16:creationId xmlns:a16="http://schemas.microsoft.com/office/drawing/2014/main" id="{ECDEE880-A996-4894-B657-4FCA6AB9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194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Direct damage and independent damage-over-time stacks</a:t>
            </a:r>
          </a:p>
        </p:txBody>
      </p:sp>
      <p:sp>
        <p:nvSpPr>
          <p:cNvPr id="9" name="school">
            <a:extLst xmlns:a="http://schemas.openxmlformats.org/drawingml/2006/main">
              <a:ext uri="{FF2B5EF4-FFF2-40B4-BE49-F238E27FC236}">
                <a16:creationId xmlns:a16="http://schemas.microsoft.com/office/drawing/2014/main" id="{6025AAE6-F349-441A-AE51-22935564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school-orb">
            <a:extLst xmlns:a="http://schemas.openxmlformats.org/drawingml/2006/main">
              <a:ext uri="{FF2B5EF4-FFF2-40B4-BE49-F238E27FC236}">
                <a16:creationId xmlns:a16="http://schemas.microsoft.com/office/drawing/2014/main" id="{2942AEC1-2FD4-4EEC-A0A2-B6D4323F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school-name">
            <a:extLst xmlns:a="http://schemas.openxmlformats.org/drawingml/2006/main">
              <a:ext uri="{FF2B5EF4-FFF2-40B4-BE49-F238E27FC236}">
                <a16:creationId xmlns:a16="http://schemas.microsoft.com/office/drawing/2014/main" id="{8185015F-CD2A-4590-97FD-8F7C25AC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812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Water</a:t>
            </a:r>
          </a:p>
        </p:txBody>
      </p:sp>
      <p:sp>
        <p:nvSpPr>
          <p:cNvPr id="12" name="school-desc">
            <a:extLst xmlns:a="http://schemas.openxmlformats.org/drawingml/2006/main">
              <a:ext uri="{FF2B5EF4-FFF2-40B4-BE49-F238E27FC236}">
                <a16:creationId xmlns:a16="http://schemas.microsoft.com/office/drawing/2014/main" id="{8C54A158-DE54-42A7-BC04-7DF89A77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194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Control through Wet, Slow, and Frozen states</a:t>
            </a:r>
          </a:p>
        </p:txBody>
      </p:sp>
      <p:sp>
        <p:nvSpPr>
          <p:cNvPr id="13" name="school">
            <a:extLst xmlns:a="http://schemas.openxmlformats.org/drawingml/2006/main">
              <a:ext uri="{FF2B5EF4-FFF2-40B4-BE49-F238E27FC236}">
                <a16:creationId xmlns:a16="http://schemas.microsoft.com/office/drawing/2014/main" id="{B747C65A-C7B3-4336-90EC-B51C7BC1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chool-orb">
            <a:extLst xmlns:a="http://schemas.openxmlformats.org/drawingml/2006/main">
              <a:ext uri="{FF2B5EF4-FFF2-40B4-BE49-F238E27FC236}">
                <a16:creationId xmlns:a16="http://schemas.microsoft.com/office/drawing/2014/main" id="{799C43B8-5B63-42F9-ABBD-4D0CF55D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chool-name">
            <a:extLst xmlns:a="http://schemas.openxmlformats.org/drawingml/2006/main">
              <a:ext uri="{FF2B5EF4-FFF2-40B4-BE49-F238E27FC236}">
                <a16:creationId xmlns:a16="http://schemas.microsoft.com/office/drawing/2014/main" id="{D8C8E769-EB59-414A-9AA9-4967DF22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719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Air</a:t>
            </a:r>
          </a:p>
        </p:txBody>
      </p:sp>
      <p:sp>
        <p:nvSpPr>
          <p:cNvPr id="16" name="school-desc">
            <a:extLst xmlns:a="http://schemas.openxmlformats.org/drawingml/2006/main">
              <a:ext uri="{FF2B5EF4-FFF2-40B4-BE49-F238E27FC236}">
                <a16:creationId xmlns:a16="http://schemas.microsoft.com/office/drawing/2014/main" id="{1BCA70C2-78C6-40C9-AB95-A8E6F269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101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Attack-speed support and chain lightning</a:t>
            </a:r>
          </a:p>
        </p:txBody>
      </p:sp>
      <p:sp>
        <p:nvSpPr>
          <p:cNvPr id="17" name="school">
            <a:extLst xmlns:a="http://schemas.openxmlformats.org/drawingml/2006/main">
              <a:ext uri="{FF2B5EF4-FFF2-40B4-BE49-F238E27FC236}">
                <a16:creationId xmlns:a16="http://schemas.microsoft.com/office/drawing/2014/main" id="{42BA2871-21F2-474D-83AB-7BED6BA1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067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school-orb">
            <a:extLst xmlns:a="http://schemas.openxmlformats.org/drawingml/2006/main">
              <a:ext uri="{FF2B5EF4-FFF2-40B4-BE49-F238E27FC236}">
                <a16:creationId xmlns:a16="http://schemas.microsoft.com/office/drawing/2014/main" id="{F68CD67A-693B-4FFD-B8EA-3612DF02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solidFill>
              <a:srgbClr val="A78A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chool-name">
            <a:extLst xmlns:a="http://schemas.openxmlformats.org/drawingml/2006/main">
              <a:ext uri="{FF2B5EF4-FFF2-40B4-BE49-F238E27FC236}">
                <a16:creationId xmlns:a16="http://schemas.microsoft.com/office/drawing/2014/main" id="{4E0C450D-6CF1-4DEA-A4DB-7F78960F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7197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Earth</a:t>
            </a:r>
          </a:p>
        </p:txBody>
      </p:sp>
      <p:sp>
        <p:nvSpPr>
          <p:cNvPr id="20" name="school-desc">
            <a:extLst xmlns:a="http://schemas.openxmlformats.org/drawingml/2006/main">
              <a:ext uri="{FF2B5EF4-FFF2-40B4-BE49-F238E27FC236}">
                <a16:creationId xmlns:a16="http://schemas.microsoft.com/office/drawing/2014/main" id="{0F9D3A2B-6A12-4E53-8FFB-8151CDB8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Area damage with Slow</a:t>
            </a:r>
          </a:p>
        </p:txBody>
      </p:sp>
    </p:spTree>
    <p:extLst>
      <p:ext uri="{BB962C8B-B14F-4D97-AF65-F5344CB8AC3E}">
        <p14:creationId xmlns:p14="http://schemas.microsoft.com/office/powerpoint/2010/main" val="10230259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AC58345D-9510-488B-8204-C5D861C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PRESSURE IS A SECOND AXIS OF MASTERY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FE933A-F62C-4EB9-86A6-7478F96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24EAD-BA28-4E45-8BDE-890C9FF9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BC76A5-9304-4F5B-A101-E2A44D08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R2 turns a familiar trigger into a continuous commitment decision.</a:t>
            </a:r>
          </a:p>
        </p:txBody>
      </p:sp>
      <p:sp>
        <p:nvSpPr>
          <p:cNvPr id="5" name="pressure">
            <a:extLst xmlns:a="http://schemas.openxmlformats.org/drawingml/2006/main">
              <a:ext uri="{FF2B5EF4-FFF2-40B4-BE49-F238E27FC236}">
                <a16:creationId xmlns:a16="http://schemas.microsoft.com/office/drawing/2014/main" id="{15720C90-709B-469A-857C-0C7912EE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nge">
            <a:extLst xmlns:a="http://schemas.openxmlformats.org/drawingml/2006/main">
              <a:ext uri="{FF2B5EF4-FFF2-40B4-BE49-F238E27FC236}">
                <a16:creationId xmlns:a16="http://schemas.microsoft.com/office/drawing/2014/main" id="{CC9D7435-E27B-40BF-ADEE-AD65F8CD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6646D"/>
                </a:solidFill>
              </a:defRPr>
            </a:pPr>
            <a:r>
              <a:rPr sz="2250" b="1">
                <a:solidFill>
                  <a:srgbClr val="56646D"/>
                </a:solidFill>
              </a:rPr>
              <a:t>0–10%</a:t>
            </a:r>
          </a:p>
        </p:txBody>
      </p:sp>
      <p:sp>
        <p:nvSpPr>
          <p:cNvPr id="7" name="state">
            <a:extLst xmlns:a="http://schemas.openxmlformats.org/drawingml/2006/main">
              <a:ext uri="{FF2B5EF4-FFF2-40B4-BE49-F238E27FC236}">
                <a16:creationId xmlns:a16="http://schemas.microsoft.com/office/drawing/2014/main" id="{4E614B8E-F6F4-4402-BDA8-502E77F6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DEPLETING</a:t>
            </a:r>
          </a:p>
        </p:txBody>
      </p:sp>
      <p:sp>
        <p:nvSpPr>
          <p:cNvPr id="8" name="desc">
            <a:extLst xmlns:a="http://schemas.openxmlformats.org/drawingml/2006/main">
              <a:ext uri="{FF2B5EF4-FFF2-40B4-BE49-F238E27FC236}">
                <a16:creationId xmlns:a16="http://schemas.microsoft.com/office/drawing/2014/main" id="{22299A26-808B-42A1-82E4-1971059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Release marking capacity without removing orbs</a:t>
            </a:r>
          </a:p>
        </p:txBody>
      </p:sp>
      <p:sp>
        <p:nvSpPr>
          <p:cNvPr id="9" name="pressure">
            <a:extLst xmlns:a="http://schemas.openxmlformats.org/drawingml/2006/main">
              <a:ext uri="{FF2B5EF4-FFF2-40B4-BE49-F238E27FC236}">
                <a16:creationId xmlns:a16="http://schemas.microsoft.com/office/drawing/2014/main" id="{B93ABC96-11CE-4909-A5A7-7CCC494D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ange">
            <a:extLst xmlns:a="http://schemas.openxmlformats.org/drawingml/2006/main">
              <a:ext uri="{FF2B5EF4-FFF2-40B4-BE49-F238E27FC236}">
                <a16:creationId xmlns:a16="http://schemas.microsoft.com/office/drawing/2014/main" id="{E9F75E32-5CD5-425E-945D-D83BE486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6DCBF4"/>
                </a:solidFill>
              </a:defRPr>
            </a:pPr>
            <a:r>
              <a:rPr sz="2250" b="1">
                <a:solidFill>
                  <a:srgbClr val="6DCBF4"/>
                </a:solidFill>
              </a:rPr>
              <a:t>35–65%</a:t>
            </a:r>
          </a:p>
        </p:txBody>
      </p:sp>
      <p:sp>
        <p:nvSpPr>
          <p:cNvPr id="11" name="state">
            <a:extLst xmlns:a="http://schemas.openxmlformats.org/drawingml/2006/main">
              <a:ext uri="{FF2B5EF4-FFF2-40B4-BE49-F238E27FC236}">
                <a16:creationId xmlns:a16="http://schemas.microsoft.com/office/drawing/2014/main" id="{57F76792-B11C-4C04-B124-E6E0C5DA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CHARGING</a:t>
            </a:r>
          </a:p>
        </p:txBody>
      </p:sp>
      <p:sp>
        <p:nvSpPr>
          <p:cNvPr id="12" name="desc">
            <a:extLst xmlns:a="http://schemas.openxmlformats.org/drawingml/2006/main">
              <a:ext uri="{FF2B5EF4-FFF2-40B4-BE49-F238E27FC236}">
                <a16:creationId xmlns:a16="http://schemas.microsoft.com/office/drawing/2014/main" id="{64289AD1-9AC5-4EFD-B207-3EC96F8F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Mark available orbs in FIFO order</a:t>
            </a:r>
          </a:p>
        </p:txBody>
      </p:sp>
      <p:sp>
        <p:nvSpPr>
          <p:cNvPr id="13" name="pressure">
            <a:extLst xmlns:a="http://schemas.openxmlformats.org/drawingml/2006/main">
              <a:ext uri="{FF2B5EF4-FFF2-40B4-BE49-F238E27FC236}">
                <a16:creationId xmlns:a16="http://schemas.microsoft.com/office/drawing/2014/main" id="{786909F2-7317-4929-AAD2-E79EDB83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25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nge">
            <a:extLst xmlns:a="http://schemas.openxmlformats.org/drawingml/2006/main">
              <a:ext uri="{FF2B5EF4-FFF2-40B4-BE49-F238E27FC236}">
                <a16:creationId xmlns:a16="http://schemas.microsoft.com/office/drawing/2014/main" id="{3D27A7F3-FBE0-4416-B78F-6DA6117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90–100%</a:t>
            </a:r>
          </a:p>
        </p:txBody>
      </p:sp>
      <p:sp>
        <p:nvSpPr>
          <p:cNvPr id="15" name="state">
            <a:extLst xmlns:a="http://schemas.openxmlformats.org/drawingml/2006/main">
              <a:ext uri="{FF2B5EF4-FFF2-40B4-BE49-F238E27FC236}">
                <a16:creationId xmlns:a16="http://schemas.microsoft.com/office/drawing/2014/main" id="{2B264412-E9E4-4152-9453-5F763E24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CAST</a:t>
            </a:r>
          </a:p>
        </p:txBody>
      </p:sp>
      <p:sp>
        <p:nvSpPr>
          <p:cNvPr id="16" name="desc">
            <a:extLst xmlns:a="http://schemas.openxmlformats.org/drawingml/2006/main">
              <a:ext uri="{FF2B5EF4-FFF2-40B4-BE49-F238E27FC236}">
                <a16:creationId xmlns:a16="http://schemas.microsoft.com/office/drawing/2014/main" id="{626F35EA-9B06-4214-AF46-7B00105F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Commit the currently marked composition</a:t>
            </a:r>
          </a:p>
        </p:txBody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2D02B824-7403-4275-A7F8-E00ACD42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72100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12B"/>
                </a:solidFill>
              </a:defRPr>
            </a:pPr>
            <a:r>
              <a:rPr sz="1875" b="1">
                <a:solidFill>
                  <a:srgbClr val="10212B"/>
                </a:solidFill>
              </a:rPr>
              <a:t>The point is tension: build value while deciding whether it is worth committing now.</a:t>
            </a:r>
          </a:p>
        </p:txBody>
      </p:sp>
    </p:spTree>
    <p:extLst>
      <p:ext uri="{BB962C8B-B14F-4D97-AF65-F5344CB8AC3E}">
        <p14:creationId xmlns:p14="http://schemas.microsoft.com/office/powerpoint/2010/main" val="13111599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3C9BC90-4621-4B32-9ED8-125A86B2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PLAYABLE PROOF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D915D7-589F-4443-8868-D8D5B2F3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6429D-9428-4E74-B87D-FC1D8FA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ACCA61-3E99-4016-B709-2FBAA4A6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12B"/>
                </a:solidFill>
              </a:defRPr>
            </a:pPr>
            <a:r>
              <a:rPr sz="3300" b="1">
                <a:solidFill>
                  <a:srgbClr val="10212B"/>
                </a:solidFill>
              </a:rPr>
              <a:t>The recorded prototype baseline demonstrates the core combat language.</a:t>
            </a:r>
          </a:p>
        </p:txBody>
      </p:sp>
      <p:sp>
        <p:nvSpPr>
          <p:cNvPr id="5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7E3454B2-68DF-415B-9DD0-A937FE8F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623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05FBDB41-1B90-40F3-8861-2F71788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95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number">
            <a:extLst xmlns:a="http://schemas.openxmlformats.org/drawingml/2006/main">
              <a:ext uri="{FF2B5EF4-FFF2-40B4-BE49-F238E27FC236}">
                <a16:creationId xmlns:a16="http://schemas.microsoft.com/office/drawing/2014/main" id="{48269224-E34F-4E58-808A-DB7DCF99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4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EB372E6-77ED-4098-AA66-78C1F721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6646D"/>
                </a:solidFill>
              </a:defRPr>
            </a:pPr>
            <a:r>
              <a:rPr sz="1725" b="0">
                <a:solidFill>
                  <a:srgbClr val="56646D"/>
                </a:solidFill>
              </a:rPr>
              <a:t>functional elemental schools</a:t>
            </a:r>
          </a:p>
        </p:txBody>
      </p:sp>
      <p:sp>
        <p:nvSpPr>
          <p:cNvPr id="9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B939F6F4-DDE3-46DE-A59A-1FC72DB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31623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22FCF0B-55D8-47B1-9F5C-D33C02AD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95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number">
            <a:extLst xmlns:a="http://schemas.openxmlformats.org/drawingml/2006/main">
              <a:ext uri="{FF2B5EF4-FFF2-40B4-BE49-F238E27FC236}">
                <a16:creationId xmlns:a16="http://schemas.microsoft.com/office/drawing/2014/main" id="{1025DA6B-7C6E-4495-B129-6DE93920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5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969E3F2-4820-48E3-AD03-F590BC48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6646D"/>
                </a:solidFill>
              </a:defRPr>
            </a:pPr>
            <a:r>
              <a:rPr sz="1725" b="0">
                <a:solidFill>
                  <a:srgbClr val="56646D"/>
                </a:solidFill>
              </a:rPr>
              <a:t>chain positions for X and Cast</a:t>
            </a:r>
          </a:p>
        </p:txBody>
      </p:sp>
      <p:sp>
        <p:nvSpPr>
          <p:cNvPr id="13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8A9CD804-B63A-49C5-ACBF-7DDD6B13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31623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3DD0FBF3-E1F4-4017-839D-908BD341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95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number">
            <a:extLst xmlns:a="http://schemas.openxmlformats.org/drawingml/2006/main">
              <a:ext uri="{FF2B5EF4-FFF2-40B4-BE49-F238E27FC236}">
                <a16:creationId xmlns:a16="http://schemas.microsoft.com/office/drawing/2014/main" id="{1BBD6F31-9DB9-4958-AEF8-385C01C6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3</a:t>
            </a:r>
          </a:p>
        </p:txBody>
      </p:sp>
      <p:sp>
        <p:nvSpPr>
          <p:cNvPr id="1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3D444AB-85FA-4254-A448-7AC1822E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6646D"/>
                </a:solidFill>
              </a:defRPr>
            </a:pPr>
            <a:r>
              <a:rPr sz="1725" b="0">
                <a:solidFill>
                  <a:srgbClr val="56646D"/>
                </a:solidFill>
              </a:rPr>
              <a:t>stationary practice targets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2D7407F2-C430-4CF4-99A9-86D55FFF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User-reported Godot validation: 25 Aug 2026, for the expanded prototype. No agent-run runtime, build, compiler, or automated-test evidence is claimed.</a:t>
            </a:r>
          </a:p>
        </p:txBody>
      </p:sp>
    </p:spTree>
    <p:extLst>
      <p:ext uri="{BB962C8B-B14F-4D97-AF65-F5344CB8AC3E}">
        <p14:creationId xmlns:p14="http://schemas.microsoft.com/office/powerpoint/2010/main" val="16159467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F34CB91B-C3CB-4554-9ADC-CF89A0A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WHAT THIS PROTOTYPE DOES NOT YET PROVE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8F0560-ACFB-4F36-B8ED-3AE15E8A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D345C-AC89-42B3-909A-1EE2512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844F91-BEDE-4688-A228-972E814B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A strong pitch is specific about what remains outside the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9D6C-3039-446E-B3CB-EC261F39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dash">
            <a:extLst xmlns:a="http://schemas.openxmlformats.org/drawingml/2006/main">
              <a:ext uri="{FF2B5EF4-FFF2-40B4-BE49-F238E27FC236}">
                <a16:creationId xmlns:a16="http://schemas.microsoft.com/office/drawing/2014/main" id="{FDF2D2F5-4875-4674-ABAD-EE042176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7" name="deferred">
            <a:extLst xmlns:a="http://schemas.openxmlformats.org/drawingml/2006/main">
              <a:ext uri="{FF2B5EF4-FFF2-40B4-BE49-F238E27FC236}">
                <a16:creationId xmlns:a16="http://schemas.microsoft.com/office/drawing/2014/main" id="{866431B8-0A95-4E3D-B776-69BB4C94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Incoming Enemy attacks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E16EB-A45E-413B-8189-DAD37D38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dash">
            <a:extLst xmlns:a="http://schemas.openxmlformats.org/drawingml/2006/main">
              <a:ext uri="{FF2B5EF4-FFF2-40B4-BE49-F238E27FC236}">
                <a16:creationId xmlns:a16="http://schemas.microsoft.com/office/drawing/2014/main" id="{ECBF0F50-9026-49C5-8FD7-CEA4CB15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0" name="deferred">
            <a:extLst xmlns:a="http://schemas.openxmlformats.org/drawingml/2006/main">
              <a:ext uri="{FF2B5EF4-FFF2-40B4-BE49-F238E27FC236}">
                <a16:creationId xmlns:a16="http://schemas.microsoft.com/office/drawing/2014/main" id="{92931C4F-6A9D-42BD-886B-9E481F7B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Ordinary-play defence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F7C3B-3164-4F1D-ADE1-A637F103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dash">
            <a:extLst xmlns:a="http://schemas.openxmlformats.org/drawingml/2006/main">
              <a:ext uri="{FF2B5EF4-FFF2-40B4-BE49-F238E27FC236}">
                <a16:creationId xmlns:a16="http://schemas.microsoft.com/office/drawing/2014/main" id="{CEE8C250-3462-4583-A049-21A15C05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3" name="deferred">
            <a:extLst xmlns:a="http://schemas.openxmlformats.org/drawingml/2006/main">
              <a:ext uri="{FF2B5EF4-FFF2-40B4-BE49-F238E27FC236}">
                <a16:creationId xmlns:a16="http://schemas.microsoft.com/office/drawing/2014/main" id="{6DE0007E-076E-4360-9730-4001787D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Air and Earth defence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D3305-C1D4-4257-B9D2-ECB5C93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dash">
            <a:extLst xmlns:a="http://schemas.openxmlformats.org/drawingml/2006/main">
              <a:ext uri="{FF2B5EF4-FFF2-40B4-BE49-F238E27FC236}">
                <a16:creationId xmlns:a16="http://schemas.microsoft.com/office/drawing/2014/main" id="{462ABEDB-464A-467E-8D36-C5F12B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6" name="deferred">
            <a:extLst xmlns:a="http://schemas.openxmlformats.org/drawingml/2006/main">
              <a:ext uri="{FF2B5EF4-FFF2-40B4-BE49-F238E27FC236}">
                <a16:creationId xmlns:a16="http://schemas.microsoft.com/office/drawing/2014/main" id="{1E9E76A9-1F4D-4F98-8D86-05DE9A04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Final balance and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3343F-8AA2-45E6-BE51-754756A8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dash">
            <a:extLst xmlns:a="http://schemas.openxmlformats.org/drawingml/2006/main">
              <a:ext uri="{FF2B5EF4-FFF2-40B4-BE49-F238E27FC236}">
                <a16:creationId xmlns:a16="http://schemas.microsoft.com/office/drawing/2014/main" id="{FF49FBD7-F22B-4041-B044-91286021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9" name="deferred">
            <a:extLst xmlns:a="http://schemas.openxmlformats.org/drawingml/2006/main">
              <a:ext uri="{FF2B5EF4-FFF2-40B4-BE49-F238E27FC236}">
                <a16:creationId xmlns:a16="http://schemas.microsoft.com/office/drawing/2014/main" id="{A771B63B-0209-4A8E-ACAB-58824D4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Complete enemy content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09F9D-2988-447D-A79D-2BDEACDA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1" name="dash">
            <a:extLst xmlns:a="http://schemas.openxmlformats.org/drawingml/2006/main">
              <a:ext uri="{FF2B5EF4-FFF2-40B4-BE49-F238E27FC236}">
                <a16:creationId xmlns:a16="http://schemas.microsoft.com/office/drawing/2014/main" id="{17C612DE-3D17-4F42-B5B0-A8A792A1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2" name="deferred">
            <a:extLst xmlns:a="http://schemas.openxmlformats.org/drawingml/2006/main">
              <a:ext uri="{FF2B5EF4-FFF2-40B4-BE49-F238E27FC236}">
                <a16:creationId xmlns:a16="http://schemas.microsoft.com/office/drawing/2014/main" id="{EAEAE160-35BF-45BF-9F4F-92F4974A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Final level geometry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CC487-781F-4CA5-8856-A416CEF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4" name="dash">
            <a:extLst xmlns:a="http://schemas.openxmlformats.org/drawingml/2006/main">
              <a:ext uri="{FF2B5EF4-FFF2-40B4-BE49-F238E27FC236}">
                <a16:creationId xmlns:a16="http://schemas.microsoft.com/office/drawing/2014/main" id="{CD4493C9-1007-4450-AF45-D945FB60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5" name="deferred">
            <a:extLst xmlns:a="http://schemas.openxmlformats.org/drawingml/2006/main">
              <a:ext uri="{FF2B5EF4-FFF2-40B4-BE49-F238E27FC236}">
                <a16:creationId xmlns:a16="http://schemas.microsoft.com/office/drawing/2014/main" id="{95F7610C-40D3-43C3-A48F-117A9202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Final character and projectile 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CCEC7-8CB1-479C-B450-C3785604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7" name="dash">
            <a:extLst xmlns:a="http://schemas.openxmlformats.org/drawingml/2006/main">
              <a:ext uri="{FF2B5EF4-FFF2-40B4-BE49-F238E27FC236}">
                <a16:creationId xmlns:a16="http://schemas.microsoft.com/office/drawing/2014/main" id="{7B8BFD7F-368C-4EFA-9824-AFB8EBCA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28" name="deferred">
            <a:extLst xmlns:a="http://schemas.openxmlformats.org/drawingml/2006/main">
              <a:ext uri="{FF2B5EF4-FFF2-40B4-BE49-F238E27FC236}">
                <a16:creationId xmlns:a16="http://schemas.microsoft.com/office/drawing/2014/main" id="{53F001A7-85DD-4D54-A349-A7297F63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72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12B"/>
                </a:solidFill>
              </a:defRPr>
            </a:pPr>
            <a:r>
              <a:rPr sz="1800" b="0">
                <a:solidFill>
                  <a:srgbClr val="10212B"/>
                </a:solidFill>
              </a:rPr>
              <a:t>Player-experience 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1185580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A620A56A-5733-4688-ADA5-D17EDCD1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PROPOSED NEXT VALIDATION SLICE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A11314-9772-4ED6-BB2A-F390A239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6646D"/>
                </a:solidFill>
              </a:defRPr>
            </a:pPr>
            <a:r>
              <a:rPr sz="1050" b="1">
                <a:solidFill>
                  <a:srgbClr val="56646D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753DC-02D2-4A08-BA18-24B7040B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3DE4D0-8ADF-4D96-897D-B7E92177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12B"/>
                </a:solidFill>
              </a:defRPr>
            </a:pPr>
            <a:r>
              <a:rPr sz="3150" b="1">
                <a:solidFill>
                  <a:srgbClr val="10212B"/>
                </a:solidFill>
              </a:rPr>
              <a:t>Turn the combat sandbox into one guided encounter that can actually end.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E124B6F-639D-4E12-A636-66CB7A52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9182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6646D"/>
                </a:solidFill>
              </a:defRPr>
            </a:pPr>
            <a:r>
              <a:rPr sz="1800" b="0">
                <a:solidFill>
                  <a:srgbClr val="56646D"/>
                </a:solidFill>
              </a:rPr>
              <a:t>The documented candidate adds an Arena-owned Stage Director, three permanent practice targets, and one distinct killable final Enemy. It awaits user validation.</a:t>
            </a:r>
          </a:p>
        </p:txBody>
      </p:sp>
      <p:sp>
        <p:nvSpPr>
          <p:cNvPr id="6" name="proposal-step">
            <a:extLst xmlns:a="http://schemas.openxmlformats.org/drawingml/2006/main">
              <a:ext uri="{FF2B5EF4-FFF2-40B4-BE49-F238E27FC236}">
                <a16:creationId xmlns:a16="http://schemas.microsoft.com/office/drawing/2014/main" id="{927367B5-D568-4EEB-B4AC-F007283B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257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10E7F927-37B3-44CB-A74A-F90EBA21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posal-head">
            <a:extLst xmlns:a="http://schemas.openxmlformats.org/drawingml/2006/main">
              <a:ext uri="{FF2B5EF4-FFF2-40B4-BE49-F238E27FC236}">
                <a16:creationId xmlns:a16="http://schemas.microsoft.com/office/drawing/2014/main" id="{97907635-7701-4E99-BDD7-1CDE03B0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957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Learn</a:t>
            </a:r>
          </a:p>
        </p:txBody>
      </p:sp>
      <p:sp>
        <p:nvSpPr>
          <p:cNvPr id="9" name="proposal-body">
            <a:extLst xmlns:a="http://schemas.openxmlformats.org/drawingml/2006/main">
              <a:ext uri="{FF2B5EF4-FFF2-40B4-BE49-F238E27FC236}">
                <a16:creationId xmlns:a16="http://schemas.microsoft.com/office/drawing/2014/main" id="{20A6A638-8CF1-46C0-877D-9E3CC638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719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 task appears; unrelated actions remain allowed</a:t>
            </a:r>
          </a:p>
        </p:txBody>
      </p:sp>
      <p:sp>
        <p:nvSpPr>
          <p:cNvPr id="10" name="proposal-step">
            <a:extLst xmlns:a="http://schemas.openxmlformats.org/drawingml/2006/main">
              <a:ext uri="{FF2B5EF4-FFF2-40B4-BE49-F238E27FC236}">
                <a16:creationId xmlns:a16="http://schemas.microsoft.com/office/drawing/2014/main" id="{9D03F4D4-EE29-40A6-B99E-94DCF3EA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3257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cent">
            <a:extLst xmlns:a="http://schemas.openxmlformats.org/drawingml/2006/main">
              <a:ext uri="{FF2B5EF4-FFF2-40B4-BE49-F238E27FC236}">
                <a16:creationId xmlns:a16="http://schemas.microsoft.com/office/drawing/2014/main" id="{B5F32AB9-FB24-43D9-B128-66130A93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posal-head">
            <a:extLst xmlns:a="http://schemas.openxmlformats.org/drawingml/2006/main">
              <a:ext uri="{FF2B5EF4-FFF2-40B4-BE49-F238E27FC236}">
                <a16:creationId xmlns:a16="http://schemas.microsoft.com/office/drawing/2014/main" id="{1940B330-416C-45F6-9A1E-68B07399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957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Demonstrate</a:t>
            </a:r>
          </a:p>
        </p:txBody>
      </p:sp>
      <p:sp>
        <p:nvSpPr>
          <p:cNvPr id="13" name="proposal-body">
            <a:extLst xmlns:a="http://schemas.openxmlformats.org/drawingml/2006/main">
              <a:ext uri="{FF2B5EF4-FFF2-40B4-BE49-F238E27FC236}">
                <a16:creationId xmlns:a16="http://schemas.microsoft.com/office/drawing/2014/main" id="{D2C10651-BA63-4EB0-B1D7-0F7B8207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719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Advance only when the intended action succeeds</a:t>
            </a:r>
          </a:p>
        </p:txBody>
      </p:sp>
      <p:sp>
        <p:nvSpPr>
          <p:cNvPr id="14" name="proposal-step">
            <a:extLst xmlns:a="http://schemas.openxmlformats.org/drawingml/2006/main">
              <a:ext uri="{FF2B5EF4-FFF2-40B4-BE49-F238E27FC236}">
                <a16:creationId xmlns:a16="http://schemas.microsoft.com/office/drawing/2014/main" id="{68D6522B-6B97-4EF5-BED2-B8053518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257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ccent">
            <a:extLst xmlns:a="http://schemas.openxmlformats.org/drawingml/2006/main">
              <a:ext uri="{FF2B5EF4-FFF2-40B4-BE49-F238E27FC236}">
                <a16:creationId xmlns:a16="http://schemas.microsoft.com/office/drawing/2014/main" id="{634F8DB5-C3CF-4EB2-B145-58BED859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posal-head">
            <a:extLst xmlns:a="http://schemas.openxmlformats.org/drawingml/2006/main">
              <a:ext uri="{FF2B5EF4-FFF2-40B4-BE49-F238E27FC236}">
                <a16:creationId xmlns:a16="http://schemas.microsoft.com/office/drawing/2014/main" id="{849DB620-A0BE-4ED9-BD61-2D0E1C65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957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12B"/>
                </a:solidFill>
              </a:defRPr>
            </a:pPr>
            <a:r>
              <a:rPr sz="2025" b="1">
                <a:solidFill>
                  <a:srgbClr val="10212B"/>
                </a:solidFill>
              </a:rPr>
              <a:t>Conclude</a:t>
            </a:r>
          </a:p>
        </p:txBody>
      </p:sp>
      <p:sp>
        <p:nvSpPr>
          <p:cNvPr id="17" name="proposal-body">
            <a:extLst xmlns:a="http://schemas.openxmlformats.org/drawingml/2006/main">
              <a:ext uri="{FF2B5EF4-FFF2-40B4-BE49-F238E27FC236}">
                <a16:creationId xmlns:a16="http://schemas.microsoft.com/office/drawing/2014/main" id="{77CB07CA-745A-457A-81FE-ED628849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719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46D"/>
                </a:solidFill>
              </a:defRPr>
            </a:pPr>
            <a:r>
              <a:rPr sz="1425" b="0">
                <a:solidFill>
                  <a:srgbClr val="56646D"/>
                </a:solidFill>
              </a:rPr>
              <a:t>Complete on final Enemy defeat</a:t>
            </a:r>
          </a:p>
        </p:txBody>
      </p:sp>
      <p:sp>
        <p:nvSpPr>
          <p:cNvPr id="18" name="proposal">
            <a:extLst xmlns:a="http://schemas.openxmlformats.org/drawingml/2006/main">
              <a:ext uri="{FF2B5EF4-FFF2-40B4-BE49-F238E27FC236}">
                <a16:creationId xmlns:a16="http://schemas.microsoft.com/office/drawing/2014/main" id="{0D36452D-C1DA-41F9-A94D-5A0AE1AF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Proposal — validate the combat loop inside a complete, legible encounter before expanding scope.</a:t>
            </a:r>
          </a:p>
        </p:txBody>
      </p:sp>
    </p:spTree>
    <p:extLst>
      <p:ext uri="{BB962C8B-B14F-4D97-AF65-F5344CB8AC3E}">
        <p14:creationId xmlns:p14="http://schemas.microsoft.com/office/powerpoint/2010/main" val="19341180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175AFEFD-E432-42E5-90BA-50F1F84A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AFC08A52-28F5-4A39-A3FB-2B00290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6EFDF3-55A5-4DBC-8167-FA804B32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3950"/>
            <a:ext cx="9525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The wager is simple: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0212B"/>
                </a:solidFill>
              </a:defRPr>
            </a:pPr>
            <a:r>
              <a:rPr sz="4650" b="1">
                <a:solidFill>
                  <a:srgbClr val="10212B"/>
                </a:solidFill>
              </a:rPr>
              <a:t>can expression emerge from execution?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BA58DD7-0418-454C-AD3B-15AF427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6646D"/>
                </a:solidFill>
              </a:defRPr>
            </a:pPr>
            <a:r>
              <a:rPr sz="2175" b="0">
                <a:solidFill>
                  <a:srgbClr val="56646D"/>
                </a:solidFill>
              </a:rPr>
              <a:t>If the answer is yes, the next encounter validates a combat identity—not merely another feature list.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7EEEF87-4EA9-4954-B422-2ECFEE19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646D"/>
                </a:solidFill>
              </a:defRPr>
            </a:pPr>
            <a:r>
              <a:rPr sz="1125" b="1">
                <a:solidFill>
                  <a:srgbClr val="56646D"/>
                </a:solidFill>
              </a:rPr>
              <a:t>INTERNAL COMBAT PITCH</a:t>
            </a:r>
          </a:p>
        </p:txBody>
      </p:sp>
      <p:sp>
        <p:nvSpPr>
          <p:cNvPr id="6" name="project">
            <a:extLst xmlns:a="http://schemas.openxmlformats.org/drawingml/2006/main">
              <a:ext uri="{FF2B5EF4-FFF2-40B4-BE49-F238E27FC236}">
                <a16:creationId xmlns:a16="http://schemas.microsoft.com/office/drawing/2014/main" id="{48B2594D-3282-45AC-BE44-E01DB6F2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12B"/>
                </a:solidFill>
              </a:defRPr>
            </a:pPr>
            <a:r>
              <a:rPr sz="2550" b="1">
                <a:solidFill>
                  <a:srgbClr val="10212B"/>
                </a:solidFill>
              </a:rPr>
              <a:t>Laema</a:t>
            </a:r>
          </a:p>
        </p:txBody>
      </p:sp>
      <p:sp>
        <p:nvSpPr>
          <p:cNvPr id="7" name="orb-0">
            <a:extLst xmlns:a="http://schemas.openxmlformats.org/drawingml/2006/main">
              <a:ext uri="{FF2B5EF4-FFF2-40B4-BE49-F238E27FC236}">
                <a16:creationId xmlns:a16="http://schemas.microsoft.com/office/drawing/2014/main" id="{5BF76FDC-3720-492D-85CF-2F969B05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81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B42"/>
          </a:solidFill>
          <a:ln xmlns:a="http://schemas.openxmlformats.org/drawingml/2006/main" w="0">
            <a:solidFill>
              <a:srgbClr val="F05B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orb-1">
            <a:extLst xmlns:a="http://schemas.openxmlformats.org/drawingml/2006/main">
              <a:ext uri="{FF2B5EF4-FFF2-40B4-BE49-F238E27FC236}">
                <a16:creationId xmlns:a16="http://schemas.microsoft.com/office/drawing/2014/main" id="{DCCEFAB5-B050-4DF8-8E2B-9AA062D1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67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orb-2">
            <a:extLst xmlns:a="http://schemas.openxmlformats.org/drawingml/2006/main">
              <a:ext uri="{FF2B5EF4-FFF2-40B4-BE49-F238E27FC236}">
                <a16:creationId xmlns:a16="http://schemas.microsoft.com/office/drawing/2014/main" id="{1B16DC93-70C4-4C31-8B66-B4F2169B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rb-3">
            <a:extLst xmlns:a="http://schemas.openxmlformats.org/drawingml/2006/main">
              <a:ext uri="{FF2B5EF4-FFF2-40B4-BE49-F238E27FC236}">
                <a16:creationId xmlns:a16="http://schemas.microsoft.com/office/drawing/2014/main" id="{F2663CC1-B8DD-4148-8B24-B3F2BD08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38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A57"/>
          </a:solidFill>
          <a:ln xmlns:a="http://schemas.openxmlformats.org/drawingml/2006/main" w="0">
            <a:solidFill>
              <a:srgbClr val="A78A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discussion">
            <a:extLst xmlns:a="http://schemas.openxmlformats.org/drawingml/2006/main">
              <a:ext uri="{FF2B5EF4-FFF2-40B4-BE49-F238E27FC236}">
                <a16:creationId xmlns:a16="http://schemas.microsoft.com/office/drawing/2014/main" id="{40B4BBE1-CF84-4145-9345-EB8A0AFA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00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646D"/>
                </a:solidFill>
              </a:defRPr>
            </a:pPr>
            <a:r>
              <a:rPr sz="1125" b="1">
                <a:solidFill>
                  <a:srgbClr val="56646D"/>
                </a:solidFill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182877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2026-08-26T10:04:06.3710000Z</dcterms:created>
  <dcterms:modified xsi:type="dcterms:W3CDTF">2026-08-26T10:04:06.3710000Z</dcterms:modified>
</coreProperties>
</file>