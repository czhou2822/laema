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1680ba5c848d1" /><Relationship Type="http://schemas.openxmlformats.org/officeDocument/2006/relationships/extended-properties" Target="/docProps/app.xml" Id="Rca93a15533444b78" /><Relationship Type="http://schemas.openxmlformats.org/officeDocument/2006/relationships/officeDocument" Target="/ppt/presentation.xml" Id="R74bd7c26088141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c0276b6aae48b2"/>
  </p:sldMasterIdLst>
  <p:notesMasterIdLst>
    <p:notesMasterId xmlns:r="http://schemas.openxmlformats.org/officeDocument/2006/relationships" r:id="R4380978f2a164842"/>
  </p:notesMasterIdLst>
  <p:sldIdLst>
    <p:sldId xmlns:r="http://schemas.openxmlformats.org/officeDocument/2006/relationships" id="256" r:id="R3e514ab40dd74638"/>
    <p:sldId xmlns:r="http://schemas.openxmlformats.org/officeDocument/2006/relationships" id="257" r:id="R9565e7dbc05547ce"/>
    <p:sldId xmlns:r="http://schemas.openxmlformats.org/officeDocument/2006/relationships" id="258" r:id="Rd7fe1347fbe84c3a"/>
    <p:sldId xmlns:r="http://schemas.openxmlformats.org/officeDocument/2006/relationships" id="259" r:id="Ra016574e4b4e4380"/>
    <p:sldId xmlns:r="http://schemas.openxmlformats.org/officeDocument/2006/relationships" id="260" r:id="Rc374e5d3d659493f"/>
    <p:sldId xmlns:r="http://schemas.openxmlformats.org/officeDocument/2006/relationships" id="261" r:id="R42001e6e78e949e7"/>
    <p:sldId xmlns:r="http://schemas.openxmlformats.org/officeDocument/2006/relationships" id="262" r:id="R155192c8040a403c"/>
    <p:sldId xmlns:r="http://schemas.openxmlformats.org/officeDocument/2006/relationships" id="263" r:id="Rd764b9416edb4d59"/>
    <p:sldId xmlns:r="http://schemas.openxmlformats.org/officeDocument/2006/relationships" id="264" r:id="Rc9e62b046ef24916"/>
    <p:sldId xmlns:r="http://schemas.openxmlformats.org/officeDocument/2006/relationships" id="265" r:id="Rf2d85352664d420b"/>
    <p:sldId xmlns:r="http://schemas.openxmlformats.org/officeDocument/2006/relationships" id="266" r:id="Rf8492405a6014fca"/>
    <p:sldId xmlns:r="http://schemas.openxmlformats.org/officeDocument/2006/relationships" id="267" r:id="Rb444679cc07f4c92"/>
    <p:sldId xmlns:r="http://schemas.openxmlformats.org/officeDocument/2006/relationships" id="268" r:id="R80378f090ae94122"/>
    <p:sldId xmlns:r="http://schemas.openxmlformats.org/officeDocument/2006/relationships" id="269" r:id="R27bd9eed719d47ee"/>
    <p:sldId xmlns:r="http://schemas.openxmlformats.org/officeDocument/2006/relationships" id="270" r:id="Rba3cb5b55655439f"/>
    <p:sldId xmlns:r="http://schemas.openxmlformats.org/officeDocument/2006/relationships" id="271" r:id="R5190bb06be3e469d"/>
    <p:sldId xmlns:r="http://schemas.openxmlformats.org/officeDocument/2006/relationships" id="272" r:id="Rea9f8fd831564473"/>
    <p:sldId xmlns:r="http://schemas.openxmlformats.org/officeDocument/2006/relationships" id="273" r:id="Ree8b6c8d37d64ace"/>
    <p:sldId xmlns:r="http://schemas.openxmlformats.org/officeDocument/2006/relationships" id="274" r:id="Rb53151f072d64ca4"/>
    <p:sldId xmlns:r="http://schemas.openxmlformats.org/officeDocument/2006/relationships" id="275" r:id="R2d88ab2726c34896"/>
    <p:sldId xmlns:r="http://schemas.openxmlformats.org/officeDocument/2006/relationships" id="276" r:id="R1857e1249a6a408b"/>
    <p:sldId xmlns:r="http://schemas.openxmlformats.org/officeDocument/2006/relationships" id="277" r:id="Re86e00665df7401e"/>
    <p:sldId xmlns:r="http://schemas.openxmlformats.org/officeDocument/2006/relationships" id="278" r:id="R8ec3208b07c145a0"/>
    <p:sldId xmlns:r="http://schemas.openxmlformats.org/officeDocument/2006/relationships" id="279" r:id="R985c1b3d51454cae"/>
    <p:sldId xmlns:r="http://schemas.openxmlformats.org/officeDocument/2006/relationships" id="280" r:id="Ra5a11e20198f4065"/>
    <p:sldId xmlns:r="http://schemas.openxmlformats.org/officeDocument/2006/relationships" id="281" r:id="R29ae01a8bef7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62830ef43495a" /><Relationship Type="http://schemas.openxmlformats.org/officeDocument/2006/relationships/slideMaster" Target="/ppt/slideMasters/slideMaster1.xml" Id="R8fc0276b6aae48b2" /><Relationship Type="http://schemas.openxmlformats.org/officeDocument/2006/relationships/notesMaster" Target="/ppt/notesMasters/notesMaster1.xml" Id="R4380978f2a164842" /><Relationship Type="http://schemas.openxmlformats.org/officeDocument/2006/relationships/presProps" Target="/ppt/presProps.xml" Id="R4ebbdeb5aea1499d" /><Relationship Type="http://schemas.openxmlformats.org/officeDocument/2006/relationships/tableStyles" Target="/ppt/tableStyles.xml" Id="Rea08bcc38e8640e1" /><Relationship Type="http://schemas.openxmlformats.org/officeDocument/2006/relationships/slide" Target="/ppt/slides/slide1.xml" Id="R3e514ab40dd74638" /><Relationship Type="http://schemas.openxmlformats.org/officeDocument/2006/relationships/slide" Target="/ppt/slides/slide2.xml" Id="R9565e7dbc05547ce" /><Relationship Type="http://schemas.openxmlformats.org/officeDocument/2006/relationships/slide" Target="/ppt/slides/slide3.xml" Id="Rd7fe1347fbe84c3a" /><Relationship Type="http://schemas.openxmlformats.org/officeDocument/2006/relationships/slide" Target="/ppt/slides/slide4.xml" Id="Ra016574e4b4e4380" /><Relationship Type="http://schemas.openxmlformats.org/officeDocument/2006/relationships/slide" Target="/ppt/slides/slide5.xml" Id="Rc374e5d3d659493f" /><Relationship Type="http://schemas.openxmlformats.org/officeDocument/2006/relationships/slide" Target="/ppt/slides/slide6.xml" Id="R42001e6e78e949e7" /><Relationship Type="http://schemas.openxmlformats.org/officeDocument/2006/relationships/slide" Target="/ppt/slides/slide7.xml" Id="R155192c8040a403c" /><Relationship Type="http://schemas.openxmlformats.org/officeDocument/2006/relationships/slide" Target="/ppt/slides/slide8.xml" Id="Rd764b9416edb4d59" /><Relationship Type="http://schemas.openxmlformats.org/officeDocument/2006/relationships/slide" Target="/ppt/slides/slide9.xml" Id="Rc9e62b046ef24916" /><Relationship Type="http://schemas.openxmlformats.org/officeDocument/2006/relationships/slide" Target="/ppt/slides/slide10.xml" Id="Rf2d85352664d420b" /><Relationship Type="http://schemas.openxmlformats.org/officeDocument/2006/relationships/slide" Target="/ppt/slides/slide11.xml" Id="Rf8492405a6014fca" /><Relationship Type="http://schemas.openxmlformats.org/officeDocument/2006/relationships/slide" Target="/ppt/slides/slide12.xml" Id="Rb444679cc07f4c92" /><Relationship Type="http://schemas.openxmlformats.org/officeDocument/2006/relationships/slide" Target="/ppt/slides/slide13.xml" Id="R80378f090ae94122" /><Relationship Type="http://schemas.openxmlformats.org/officeDocument/2006/relationships/slide" Target="/ppt/slides/slide14.xml" Id="R27bd9eed719d47ee" /><Relationship Type="http://schemas.openxmlformats.org/officeDocument/2006/relationships/slide" Target="/ppt/slides/slide15.xml" Id="Rba3cb5b55655439f" /><Relationship Type="http://schemas.openxmlformats.org/officeDocument/2006/relationships/slide" Target="/ppt/slides/slide16.xml" Id="R5190bb06be3e469d" /><Relationship Type="http://schemas.openxmlformats.org/officeDocument/2006/relationships/slide" Target="/ppt/slides/slide17.xml" Id="Rea9f8fd831564473" /><Relationship Type="http://schemas.openxmlformats.org/officeDocument/2006/relationships/slide" Target="/ppt/slides/slide18.xml" Id="Ree8b6c8d37d64ace" /><Relationship Type="http://schemas.openxmlformats.org/officeDocument/2006/relationships/slide" Target="/ppt/slides/slide19.xml" Id="Rb53151f072d64ca4" /><Relationship Type="http://schemas.openxmlformats.org/officeDocument/2006/relationships/slide" Target="/ppt/slides/slide20.xml" Id="R2d88ab2726c34896" /><Relationship Type="http://schemas.openxmlformats.org/officeDocument/2006/relationships/slide" Target="/ppt/slides/slide21.xml" Id="R1857e1249a6a408b" /><Relationship Type="http://schemas.openxmlformats.org/officeDocument/2006/relationships/slide" Target="/ppt/slides/slide22.xml" Id="Re86e00665df7401e" /><Relationship Type="http://schemas.openxmlformats.org/officeDocument/2006/relationships/slide" Target="/ppt/slides/slide23.xml" Id="R8ec3208b07c145a0" /><Relationship Type="http://schemas.openxmlformats.org/officeDocument/2006/relationships/slide" Target="/ppt/slides/slide24.xml" Id="R985c1b3d51454cae" /><Relationship Type="http://schemas.openxmlformats.org/officeDocument/2006/relationships/slide" Target="/ppt/slides/slide25.xml" Id="Ra5a11e20198f4065" /><Relationship Type="http://schemas.openxmlformats.org/officeDocument/2006/relationships/slide" Target="/ppt/slides/slide26.xml" Id="R29ae01a8bef7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4878153d99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25de1db94c44a5" /><Relationship Type="http://schemas.openxmlformats.org/officeDocument/2006/relationships/notesMaster" Target="/ppt/notesMasters/notesMaster1.xml" Id="Rb42e5b8ddd5b4a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81b31ea3d14f42" /><Relationship Type="http://schemas.openxmlformats.org/officeDocument/2006/relationships/notesMaster" Target="/ppt/notesMasters/notesMaster1.xml" Id="R6db897ff87db40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b02476fd3f4e78" /><Relationship Type="http://schemas.openxmlformats.org/officeDocument/2006/relationships/notesMaster" Target="/ppt/notesMasters/notesMaster1.xml" Id="Rfe32c7cd99bd4d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e5e1a7505f42a3" /><Relationship Type="http://schemas.openxmlformats.org/officeDocument/2006/relationships/notesMaster" Target="/ppt/notesMasters/notesMaster1.xml" Id="Ra9d25cf22cdf44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7f2951a61242f4" /><Relationship Type="http://schemas.openxmlformats.org/officeDocument/2006/relationships/notesMaster" Target="/ppt/notesMasters/notesMaster1.xml" Id="R47d5c4bb180645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0ecd4bb0da46ce" /><Relationship Type="http://schemas.openxmlformats.org/officeDocument/2006/relationships/notesMaster" Target="/ppt/notesMasters/notesMaster1.xml" Id="R5a731d62d2ae41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e70a74c7884282" /><Relationship Type="http://schemas.openxmlformats.org/officeDocument/2006/relationships/notesMaster" Target="/ppt/notesMasters/notesMaster1.xml" Id="R3092fb64bf2047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ba49eceb364c4c" /><Relationship Type="http://schemas.openxmlformats.org/officeDocument/2006/relationships/notesMaster" Target="/ppt/notesMasters/notesMaster1.xml" Id="Re663511c5b5340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1cacdaa3f740a5" /><Relationship Type="http://schemas.openxmlformats.org/officeDocument/2006/relationships/notesMaster" Target="/ppt/notesMasters/notesMaster1.xml" Id="Reec8303337eb41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18aa0055c4415e" /><Relationship Type="http://schemas.openxmlformats.org/officeDocument/2006/relationships/notesMaster" Target="/ppt/notesMasters/notesMaster1.xml" Id="R66f935aa226044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fd3e679ca249cb" /><Relationship Type="http://schemas.openxmlformats.org/officeDocument/2006/relationships/notesMaster" Target="/ppt/notesMasters/notesMaster1.xml" Id="Rce2e73d783fd47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e26b718c004c8b" /><Relationship Type="http://schemas.openxmlformats.org/officeDocument/2006/relationships/notesMaster" Target="/ppt/notesMasters/notesMaster1.xml" Id="R128868549d5840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1a9e9c3f5f43a7" /><Relationship Type="http://schemas.openxmlformats.org/officeDocument/2006/relationships/notesMaster" Target="/ppt/notesMasters/notesMaster1.xml" Id="Rcb0bed42170149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665a9bc6324a00" /><Relationship Type="http://schemas.openxmlformats.org/officeDocument/2006/relationships/notesMaster" Target="/ppt/notesMasters/notesMaster1.xml" Id="R1b40cd5496ea46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a6ab830f6343d8" /><Relationship Type="http://schemas.openxmlformats.org/officeDocument/2006/relationships/notesMaster" Target="/ppt/notesMasters/notesMaster1.xml" Id="R087d380a2a9d44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45136195854dd5" /><Relationship Type="http://schemas.openxmlformats.org/officeDocument/2006/relationships/notesMaster" Target="/ppt/notesMasters/notesMaster1.xml" Id="R4bcd932998a647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88ea13270b4658" /><Relationship Type="http://schemas.openxmlformats.org/officeDocument/2006/relationships/notesMaster" Target="/ppt/notesMasters/notesMaster1.xml" Id="R10816cef3b8a44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8091a82bc3408e" /><Relationship Type="http://schemas.openxmlformats.org/officeDocument/2006/relationships/notesMaster" Target="/ppt/notesMasters/notesMaster1.xml" Id="Rc65a4b3463fa4d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2ce65695104e24" /><Relationship Type="http://schemas.openxmlformats.org/officeDocument/2006/relationships/notesMaster" Target="/ppt/notesMasters/notesMaster1.xml" Id="Raedf7f5f47054e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7395ef637347af" /><Relationship Type="http://schemas.openxmlformats.org/officeDocument/2006/relationships/notesMaster" Target="/ppt/notesMasters/notesMaster1.xml" Id="Rc3e24cddac514a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3fbc7ffcb44b03" /><Relationship Type="http://schemas.openxmlformats.org/officeDocument/2006/relationships/notesMaster" Target="/ppt/notesMasters/notesMaster1.xml" Id="R553137c734e14d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2c76311fa2425e" /><Relationship Type="http://schemas.openxmlformats.org/officeDocument/2006/relationships/notesMaster" Target="/ppt/notesMasters/notesMaster1.xml" Id="R76cd6c87713944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2429b5e8a94002" /><Relationship Type="http://schemas.openxmlformats.org/officeDocument/2006/relationships/notesMaster" Target="/ppt/notesMasters/notesMaster1.xml" Id="Re713a2d511be46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b0d9eca1a3e483b" /><Relationship Type="http://schemas.openxmlformats.org/officeDocument/2006/relationships/notesMaster" Target="/ppt/notesMasters/notesMaster1.xml" Id="R35c69cdfaf0c49f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2888f27eaa453d" /><Relationship Type="http://schemas.openxmlformats.org/officeDocument/2006/relationships/notesMaster" Target="/ppt/notesMasters/notesMaster1.xml" Id="Rf70ce4d7d77d4b9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9188544978848e5" /><Relationship Type="http://schemas.openxmlformats.org/officeDocument/2006/relationships/notesMaster" Target="/ppt/notesMasters/notesMaster1.xml" Id="R87c84facee1548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player promise. This is a rough pitch test, not a claim that every full-game decision is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Tournament constraint: premium, mid-sized project under approximately 20 hours. The split is intentional: do not present open full-game answers as decided.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Tournament guidelines in docs/presentation/guidelines/; internal project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Melee Combo.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destination: replace the centered X1–X5 sequence with the actual melee-combo capture when it is available. Current slide teaches only the five-position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  <a:p xmlns:a="http://schemas.openxmlformats.org/drawingml/2006/main">
            <a:r>
              <a:t>
[Sources]
- Added user-provided assets: docs/presentation/assets/animations/fire_x1.gif through fire_x5.gif.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Orb Charging.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GDD establishes that an X hit creates one school-matching orb, CHARGING marks in FIFO order, and entry into CAST commits marked orbs.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state 1. Five Fire orbs are available, but none has been marked.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state 2. Half-press means R2 is in the GDD’s CHARGING band. This example marks the first two Fire orbs.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Mockup state 3. The GDD’s current maximum capacity is five marked orbs.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destination: play the real Casting animation here, alongside the mocked Fireball outcome. The GDD says CAST entry immediately consumes marked orbs.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Melee-Casting.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destination: endpoint-Cast example. A Cast after position five ends the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Deliberate No example. A mid-chain Cast occupies the next progression position, so only X4 and X5 remain after X X 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destinations: show the melee-finisher and Cast-finisher strings as two separate captures.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Gameplay GIF destination: consecutive Cast example. The GDD permits a Cast to chain directly into another Cast when the next attempt succeeds.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Four Schools.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GDD establishes Fire, Water, Air, and Earth orbs. This slide only establishes the source of those orbs, not all individual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Mixing Elements.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User-selected pitch example. It matches the documented rule: 3 Fire and 2 Earth resolves Fire as the primary at total level 5, with Earth as secondary at 2 minus 1 = level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User-authorized rough-pitch future direction. The current records permit future configurable school-level spell mapping, but spell lists, collection, and individual behavior remain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Heat.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decision for the new pitch rule: more consumed orbs raise Heat, which accelerates combo and Casting pace. The existing GDD still documents direct-hit Heat and requires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divider: The 20-Hour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tournament guide expects these subjects. Present them as open in a rough friend pitch, not as fictitious game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Tournament guidelines in docs/presentation/guidelines/; internal project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live prototype hidden until this reveal. This is a presentation transition only; do not claim agent-run runtime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friend-test Q&amp;A. Capture their wording before explaining or correcting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sources: docs/GAME_DESIGN.md; tournament guidelines in docs/presentation/guidelines/. User-authored pitch decisions are labeled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2076e643149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2c1bd616c749cb" /><Relationship Type="http://schemas.openxmlformats.org/officeDocument/2006/relationships/slideLayout" Target="/ppt/slideLayouts/slideLayout1.xml" Id="R67831c5d5b0a47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831c5d5b0a47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d296707104ab2" /><Relationship Type="http://schemas.openxmlformats.org/officeDocument/2006/relationships/notesSlide" Target="/ppt/notesSlides/notesSlide1.xml" Id="R1d09e31354af41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146b81cf74905" /><Relationship Type="http://schemas.openxmlformats.org/officeDocument/2006/relationships/notesSlide" Target="/ppt/notesSlides/notesSlide2.xml" Id="Rd8539cb192d944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da58bdd1d44af" /><Relationship Type="http://schemas.openxmlformats.org/officeDocument/2006/relationships/notesSlide" Target="/ppt/notesSlides/notesSlide3.xml" Id="R0c178c18687a48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a6105b16e4728" /><Relationship Type="http://schemas.openxmlformats.org/officeDocument/2006/relationships/image" Target="/ppt/media/image.gif" Id="R215fd8828a55414d" /><Relationship Type="http://schemas.openxmlformats.org/officeDocument/2006/relationships/image" Target="/ppt/media/image2.gif" Id="Re2cdd98d6f5a4962" /><Relationship Type="http://schemas.openxmlformats.org/officeDocument/2006/relationships/image" Target="/ppt/media/image3.gif" Id="R392d04905726432b" /><Relationship Type="http://schemas.openxmlformats.org/officeDocument/2006/relationships/image" Target="/ppt/media/image4.gif" Id="R0cfb0512c2924f6d" /><Relationship Type="http://schemas.openxmlformats.org/officeDocument/2006/relationships/image" Target="/ppt/media/image5.gif" Id="Rbe5d107b0b03454d" /><Relationship Type="http://schemas.openxmlformats.org/officeDocument/2006/relationships/notesSlide" Target="/ppt/notesSlides/notesSlide4.xml" Id="Rfb3ebaed314747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ad2681b6845e3" /><Relationship Type="http://schemas.openxmlformats.org/officeDocument/2006/relationships/notesSlide" Target="/ppt/notesSlides/notesSlide5.xml" Id="R05d02322473c47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869ad33b94d5b" /><Relationship Type="http://schemas.openxmlformats.org/officeDocument/2006/relationships/notesSlide" Target="/ppt/notesSlides/notesSlide6.xml" Id="R409d77046a074c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c0538d4374e4b" /><Relationship Type="http://schemas.openxmlformats.org/officeDocument/2006/relationships/notesSlide" Target="/ppt/notesSlides/notesSlide7.xml" Id="R3c3825343e774a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9cf15ba104729" /><Relationship Type="http://schemas.openxmlformats.org/officeDocument/2006/relationships/notesSlide" Target="/ppt/notesSlides/notesSlide8.xml" Id="R74cddea23f7d48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964d0df424cbe" /><Relationship Type="http://schemas.openxmlformats.org/officeDocument/2006/relationships/notesSlide" Target="/ppt/notesSlides/notesSlide9.xml" Id="Rb62b79a19d0446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08fca2a184c08" /><Relationship Type="http://schemas.openxmlformats.org/officeDocument/2006/relationships/notesSlide" Target="/ppt/notesSlides/notesSlide10.xml" Id="R2a606e31c8c545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2ec79e45944f1" /><Relationship Type="http://schemas.openxmlformats.org/officeDocument/2006/relationships/notesSlide" Target="/ppt/notesSlides/notesSlide11.xml" Id="Rfdd8c07b62974f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5c51ae4544449" /><Relationship Type="http://schemas.openxmlformats.org/officeDocument/2006/relationships/notesSlide" Target="/ppt/notesSlides/notesSlide12.xml" Id="R118a391b4df148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9772289b24f2d" /><Relationship Type="http://schemas.openxmlformats.org/officeDocument/2006/relationships/notesSlide" Target="/ppt/notesSlides/notesSlide13.xml" Id="Rd0d7252f4a454a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0be90fe7a40ec" /><Relationship Type="http://schemas.openxmlformats.org/officeDocument/2006/relationships/notesSlide" Target="/ppt/notesSlides/notesSlide14.xml" Id="R4f86d8ec537049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f8b3da3cf4322" /><Relationship Type="http://schemas.openxmlformats.org/officeDocument/2006/relationships/notesSlide" Target="/ppt/notesSlides/notesSlide15.xml" Id="R8e2f3097093d42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80fa58af340a0" /><Relationship Type="http://schemas.openxmlformats.org/officeDocument/2006/relationships/notesSlide" Target="/ppt/notesSlides/notesSlide16.xml" Id="R8b0cd25e0ad64b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8f5d0947d4dd5" /><Relationship Type="http://schemas.openxmlformats.org/officeDocument/2006/relationships/notesSlide" Target="/ppt/notesSlides/notesSlide17.xml" Id="R49072f1871ce4b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04653865948c3" /><Relationship Type="http://schemas.openxmlformats.org/officeDocument/2006/relationships/notesSlide" Target="/ppt/notesSlides/notesSlide18.xml" Id="Ra9e5045802ad42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8db7e08564683" /><Relationship Type="http://schemas.openxmlformats.org/officeDocument/2006/relationships/notesSlide" Target="/ppt/notesSlides/notesSlide19.xml" Id="R6b1e144242a44f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5a7021a7942e9" /><Relationship Type="http://schemas.openxmlformats.org/officeDocument/2006/relationships/notesSlide" Target="/ppt/notesSlides/notesSlide20.xml" Id="Rd235efbbaed342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e44d2d0bf4555" /><Relationship Type="http://schemas.openxmlformats.org/officeDocument/2006/relationships/notesSlide" Target="/ppt/notesSlides/notesSlide21.xml" Id="Rfbd3af82986141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47d9a28134cc0" /><Relationship Type="http://schemas.openxmlformats.org/officeDocument/2006/relationships/notesSlide" Target="/ppt/notesSlides/notesSlide22.xml" Id="R451afc98cfc14b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41d418a0f4fd3" /><Relationship Type="http://schemas.openxmlformats.org/officeDocument/2006/relationships/notesSlide" Target="/ppt/notesSlides/notesSlide23.xml" Id="R535c73bd8bc74cb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3fec3db564b09" /><Relationship Type="http://schemas.openxmlformats.org/officeDocument/2006/relationships/notesSlide" Target="/ppt/notesSlides/notesSlide24.xml" Id="Re2014bd0406c4a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c5f74a37540b9" /><Relationship Type="http://schemas.openxmlformats.org/officeDocument/2006/relationships/notesSlide" Target="/ppt/notesSlides/notesSlide25.xml" Id="R280876858c9c43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45d62a2bb4688" /><Relationship Type="http://schemas.openxmlformats.org/officeDocument/2006/relationships/notesSlide" Target="/ppt/notesSlides/notesSlide26.xml" Id="Rfbe0c6f8321d4c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2695409-D9A7-43DB-B327-67136E58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4F68CECA-23B6-42A8-8561-86BCC0D6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AEB4D3-1073-4ADA-9668-6656DFB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62050"/>
            <a:ext cx="8763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22431"/>
                </a:solidFill>
              </a:defRPr>
            </a:pPr>
            <a:r>
              <a:rPr sz="4950" b="1">
                <a:solidFill>
                  <a:srgbClr val="122431"/>
                </a:solidFill>
              </a:rPr>
              <a:t>Master the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22431"/>
                </a:solidFill>
              </a:defRPr>
            </a:pPr>
            <a:r>
              <a:rPr sz="4950" b="1">
                <a:solidFill>
                  <a:srgbClr val="122431"/>
                </a:solidFill>
              </a:rPr>
              <a:t>Might and Magic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0D66A66-CCB8-4923-B3E0-36873CF0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B6A73"/>
                </a:solidFill>
              </a:defRPr>
            </a:pPr>
            <a:r>
              <a:rPr sz="2175" b="0">
                <a:solidFill>
                  <a:srgbClr val="5B6A73"/>
                </a:solidFill>
              </a:rPr>
              <a:t>A rough pitch for a combat system where melee builds the magic you cast.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0A549AF-0A40-404A-AAE8-87FB0D30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A73"/>
                </a:solidFill>
              </a:defRPr>
            </a:pPr>
            <a:r>
              <a:rPr sz="1125" b="1">
                <a:solidFill>
                  <a:srgbClr val="5B6A73"/>
                </a:solidFill>
              </a:rPr>
              <a:t>ROUGH FRIEND PITCH</a:t>
            </a:r>
          </a:p>
        </p:txBody>
      </p:sp>
      <p:sp>
        <p:nvSpPr>
          <p:cNvPr id="6" name="project">
            <a:extLst xmlns:a="http://schemas.openxmlformats.org/drawingml/2006/main">
              <a:ext uri="{FF2B5EF4-FFF2-40B4-BE49-F238E27FC236}">
                <a16:creationId xmlns:a16="http://schemas.microsoft.com/office/drawing/2014/main" id="{8545DBC6-644C-4D3A-B5CB-1084E8FE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22431"/>
                </a:solidFill>
              </a:defRPr>
            </a:pPr>
            <a:r>
              <a:rPr sz="2400" b="1">
                <a:solidFill>
                  <a:srgbClr val="122431"/>
                </a:solidFill>
              </a:rPr>
              <a:t>Laema</a:t>
            </a:r>
          </a:p>
        </p:txBody>
      </p:sp>
      <p:sp>
        <p:nvSpPr>
          <p:cNvPr id="7" name="orb-0">
            <a:extLst xmlns:a="http://schemas.openxmlformats.org/drawingml/2006/main">
              <a:ext uri="{FF2B5EF4-FFF2-40B4-BE49-F238E27FC236}">
                <a16:creationId xmlns:a16="http://schemas.microsoft.com/office/drawing/2014/main" id="{01F07E08-C717-4046-80AB-D54F4B7D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43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8" name="orb-1">
            <a:extLst xmlns:a="http://schemas.openxmlformats.org/drawingml/2006/main">
              <a:ext uri="{FF2B5EF4-FFF2-40B4-BE49-F238E27FC236}">
                <a16:creationId xmlns:a16="http://schemas.microsoft.com/office/drawing/2014/main" id="{F1ED2DB8-2DBB-41D2-BAF6-E1017DE7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57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orb-2">
            <a:extLst xmlns:a="http://schemas.openxmlformats.org/drawingml/2006/main">
              <a:ext uri="{FF2B5EF4-FFF2-40B4-BE49-F238E27FC236}">
                <a16:creationId xmlns:a16="http://schemas.microsoft.com/office/drawing/2014/main" id="{965566B8-B020-4066-90A6-A029839D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72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C8ED"/>
          </a:solidFill>
          <a:ln xmlns:a="http://schemas.openxmlformats.org/drawingml/2006/main" w="0">
            <a:solidFill>
              <a:srgbClr val="67C8ED"/>
            </a:solidFill>
            <a:prstDash val="solid"/>
          </a:ln>
        </p:spPr>
      </p:sp>
      <p:sp>
        <p:nvSpPr>
          <p:cNvPr id="10" name="orb-3">
            <a:extLst xmlns:a="http://schemas.openxmlformats.org/drawingml/2006/main">
              <a:ext uri="{FF2B5EF4-FFF2-40B4-BE49-F238E27FC236}">
                <a16:creationId xmlns:a16="http://schemas.microsoft.com/office/drawing/2014/main" id="{F592D723-A27D-4664-B2A4-8ECF50F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solidFill>
              <a:srgbClr val="B3915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18805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D8DCD54D-5945-4A9F-B72F-D40F5D4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PITCH FRAME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EB50389-BD90-4D00-BFF5-EBD4080A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2F6ED-2ED0-49A4-8824-A29D5BF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6435DF-3010-419B-99F7-74D93848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2431"/>
                </a:solidFill>
              </a:defRPr>
            </a:pPr>
            <a:r>
              <a:rPr sz="3450" b="1">
                <a:solidFill>
                  <a:srgbClr val="122431"/>
                </a:solidFill>
              </a:rPr>
              <a:t>The target is a premium, mid-sized action experience of about 20 hours.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8B3B7F1E-C144-41AE-AF17-ED997AE0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521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C22B50AD-D223-478D-8E67-AE6A96D8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521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rd-head">
            <a:extLst xmlns:a="http://schemas.openxmlformats.org/drawingml/2006/main">
              <a:ext uri="{FF2B5EF4-FFF2-40B4-BE49-F238E27FC236}">
                <a16:creationId xmlns:a16="http://schemas.microsoft.com/office/drawing/2014/main" id="{CC1A8B62-176D-4EF4-A833-B4BEFCD7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Defined today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6F3C4B7D-EAE0-45C0-8326-0480CEA7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26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A73"/>
                </a:solidFill>
              </a:defRPr>
            </a:pPr>
            <a:r>
              <a:rPr sz="1725" b="0">
                <a:solidFill>
                  <a:srgbClr val="5B6A73"/>
                </a:solidFill>
              </a:rPr>
              <a:t>The combat toy: melee, orbs, Casting, mixing, and Heat.</a:t>
            </a:r>
          </a:p>
        </p:txBody>
      </p:sp>
      <p:sp>
        <p:nvSpPr>
          <p:cNvPr id="9" name="card-head">
            <a:extLst xmlns:a="http://schemas.openxmlformats.org/drawingml/2006/main">
              <a:ext uri="{FF2B5EF4-FFF2-40B4-BE49-F238E27FC236}">
                <a16:creationId xmlns:a16="http://schemas.microsoft.com/office/drawing/2014/main" id="{84F43B4D-96EB-4AE6-B927-5D4843D3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9664C8"/>
                </a:solidFill>
              </a:defRPr>
            </a:pPr>
            <a:r>
              <a:rPr sz="1950" b="1">
                <a:solidFill>
                  <a:srgbClr val="9664C8"/>
                </a:solidFill>
              </a:rPr>
              <a:t>Open for the full pitch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99794D57-8142-46F3-89B2-D5266F4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A73"/>
                </a:solidFill>
              </a:defRPr>
            </a:pPr>
            <a:r>
              <a:rPr sz="1725" b="0">
                <a:solidFill>
                  <a:srgbClr val="5B6A73"/>
                </a:solidFill>
              </a:rPr>
              <a:t>World, setting, progression, China/studio fit, audience, platform, and business model.</a:t>
            </a:r>
          </a:p>
        </p:txBody>
      </p:sp>
    </p:spTree>
    <p:extLst>
      <p:ext uri="{BB962C8B-B14F-4D97-AF65-F5344CB8AC3E}">
        <p14:creationId xmlns:p14="http://schemas.microsoft.com/office/powerpoint/2010/main" val="12835364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C044CC1-5DF9-4F19-8DA4-273B2C05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CB0DCD25-6ACB-4A02-9776-6B6F2A61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527F810-05D3-4EDE-A0B6-B52C7D6F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MELEE COMBO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F4F26FAA-BC99-4DA0-8436-AD0A206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A familiar action-combat foundation before the system introduces magic.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C546144-2734-4887-B646-1ADE159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42747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7EBFCA50-6003-493B-AADF-3D67D8BD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 COMBO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AC85144-D7C7-4A22-BF1C-62527DF9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4DE82-0959-4079-8BFC-1CEE0602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C1FF67-0FF7-41DE-95E6-FC17B713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Five X attacks establish a readable action baseline.</a:t>
            </a:r>
          </a:p>
        </p:txBody>
      </p:sp>
      <p:sp>
        <p:nvSpPr>
          <p:cNvPr id="5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2C7FA056-B9A3-4C83-9990-106E7AB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137F2E49-2095-43CD-A47E-DE8160D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F3AE9-302C-45C7-9B50-72254450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8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73E83335-F0C5-4358-AE8A-C521E3A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DB448EC1-0666-4D3A-B811-DCB84ACC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9B9DC-7D02-468B-9C98-0F463D5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A7D5D2B9-326F-4FB2-90BA-21201671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ADBF542C-2962-472C-8560-88D30D72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04328-BBAA-41C3-8F9D-A0A5010B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4C10C310-86F2-498C-A9BF-E8744C3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1B10EF6B-A5DC-48D5-8D60-088C9441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FDAC4-313C-4A2A-A797-B0A4D839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7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065CC1E9-95F6-4075-9E37-E3D2A257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22E7E242-426D-4CA9-99D2-6A00F21D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45B43"/>
                </a:solidFill>
              </a:defRPr>
            </a:pPr>
            <a:r>
              <a:rPr sz="2100" b="1">
                <a:solidFill>
                  <a:srgbClr val="F45B43"/>
                </a:solidFill>
              </a:rPr>
              <a:t>X5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CFD530DF-3E5A-4E31-96C5-322F58C9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The first layer is familiar. The next sections explain what successful melee adds to it.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fd8828a55414d"/>
          <a:stretch xmlns:a="http://schemas.openxmlformats.org/drawingml/2006/main"/>
        </p:blipFill>
        <p:spPr>
          <a:xfrm xmlns:a="http://schemas.openxmlformats.org/drawingml/2006/main">
            <a:off x="1733550" y="195262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dd98d6f5a4962"/>
          <a:stretch xmlns:a="http://schemas.openxmlformats.org/drawingml/2006/main"/>
        </p:blipFill>
        <p:spPr>
          <a:xfrm xmlns:a="http://schemas.openxmlformats.org/drawingml/2006/main">
            <a:off x="3448050" y="195262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d04905726432b"/>
          <a:stretch xmlns:a="http://schemas.openxmlformats.org/drawingml/2006/main"/>
        </p:blipFill>
        <p:spPr>
          <a:xfrm xmlns:a="http://schemas.openxmlformats.org/drawingml/2006/main">
            <a:off x="5162550" y="195262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b0512c2924f6d"/>
          <a:stretch xmlns:a="http://schemas.openxmlformats.org/drawingml/2006/main"/>
        </p:blipFill>
        <p:spPr>
          <a:xfrm xmlns:a="http://schemas.openxmlformats.org/drawingml/2006/main">
            <a:off x="6877050" y="195262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d107b0b03454d"/>
          <a:stretch xmlns:a="http://schemas.openxmlformats.org/drawingml/2006/main"/>
        </p:blipFill>
        <p:spPr>
          <a:xfrm xmlns:a="http://schemas.openxmlformats.org/drawingml/2006/main">
            <a:off x="8591550" y="1952625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834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2BC6279-06D6-4A2D-955F-6AE55B2C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45AC8F3C-733C-4013-BE32-BD421DF2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0FC5168-2594-4C70-8712-5475477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ORB CHARGING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7C54D47C-1F2A-447C-A9F9-05098DC6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Successful melee creates the material that R2 prepares for Casting.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352BC8D-7C7D-4FDB-A5BE-5A20019B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33840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38F372C8-9B31-4AB7-BB23-6B680662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ORB CHARGING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4C911AE-C820-4117-8602-E561A81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33E69-DF1A-4001-9F76-0B44E98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058F14-F74F-4351-9A8B-4C76D608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Successful hits create elemental orbs; R2 decides when they become a Cast.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CA42FDFF-BD03-4810-882A-0042771B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6C65BFB-A3B1-463B-867C-129BEB4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">
            <a:extLst xmlns:a="http://schemas.openxmlformats.org/drawingml/2006/main">
              <a:ext uri="{FF2B5EF4-FFF2-40B4-BE49-F238E27FC236}">
                <a16:creationId xmlns:a16="http://schemas.microsoft.com/office/drawing/2014/main" id="{E0CF4E5F-9FC3-4570-BC6D-F46E916B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2431"/>
                </a:solidFill>
              </a:defRPr>
            </a:pPr>
            <a:r>
              <a:rPr sz="2025" b="1">
                <a:solidFill>
                  <a:srgbClr val="122431"/>
                </a:solidFill>
              </a:rPr>
              <a:t>Hit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31F0D05-F8C8-49D6-9D0B-B3E8F0BF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A school attack connects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379D9-F4F5-4CFC-9552-27B9992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052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2E9FCE05-AB23-4CC5-9C29-306BEA43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2FF11431-8FC9-4050-B50E-68BDF3E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ad">
            <a:extLst xmlns:a="http://schemas.openxmlformats.org/drawingml/2006/main">
              <a:ext uri="{FF2B5EF4-FFF2-40B4-BE49-F238E27FC236}">
                <a16:creationId xmlns:a16="http://schemas.microsoft.com/office/drawing/2014/main" id="{713EAFE8-699B-4122-AF25-29D005F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2431"/>
                </a:solidFill>
              </a:defRPr>
            </a:pPr>
            <a:r>
              <a:rPr sz="2025" b="1">
                <a:solidFill>
                  <a:srgbClr val="122431"/>
                </a:solidFill>
              </a:rPr>
              <a:t>Queue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F34CCE93-24C2-4CAC-A675-C67CF99B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Its orb enters FIFO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47D9E-126F-4D7E-AEEC-1CE9DD09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052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C94A556A-3487-4848-8C3D-CA6F4E5A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C5F7D9EF-A651-41ED-B902-0987078F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ead">
            <a:extLst xmlns:a="http://schemas.openxmlformats.org/drawingml/2006/main">
              <a:ext uri="{FF2B5EF4-FFF2-40B4-BE49-F238E27FC236}">
                <a16:creationId xmlns:a16="http://schemas.microsoft.com/office/drawing/2014/main" id="{69C5A340-6E9A-43E3-8A30-69651D1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2431"/>
                </a:solidFill>
              </a:defRPr>
            </a:pPr>
            <a:r>
              <a:rPr sz="2025" b="1">
                <a:solidFill>
                  <a:srgbClr val="122431"/>
                </a:solidFill>
              </a:rPr>
              <a:t>Charge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7745EBA1-B688-4112-AE87-C3CBC915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R2 marks the available orbs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A462B-7FA6-4BBD-A9AE-74A91778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114A723E-F0C3-403B-99CA-77558CA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B83D3E64-A04F-4AEC-9214-AF0D50BD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24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ead">
            <a:extLst xmlns:a="http://schemas.openxmlformats.org/drawingml/2006/main">
              <a:ext uri="{FF2B5EF4-FFF2-40B4-BE49-F238E27FC236}">
                <a16:creationId xmlns:a16="http://schemas.microsoft.com/office/drawing/2014/main" id="{9DD039A7-DB4A-4AE1-8507-73C39158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81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2431"/>
                </a:solidFill>
              </a:defRPr>
            </a:pPr>
            <a:r>
              <a:rPr sz="2025" b="1">
                <a:solidFill>
                  <a:srgbClr val="122431"/>
                </a:solidFill>
              </a:rPr>
              <a:t>Cast</a:t>
            </a:r>
          </a:p>
        </p:txBody>
      </p:sp>
      <p:sp>
        <p:nvSpPr>
          <p:cNvPr id="23" name="body">
            <a:extLst xmlns:a="http://schemas.openxmlformats.org/drawingml/2006/main">
              <a:ext uri="{FF2B5EF4-FFF2-40B4-BE49-F238E27FC236}">
                <a16:creationId xmlns:a16="http://schemas.microsoft.com/office/drawing/2014/main" id="{261802DF-4D39-4054-976E-7C3C8D2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528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Full pressure commits them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8E5D5017-809B-42B3-ACC9-1656D908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38750"/>
            <a:ext cx="928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The next slides use a Fire-only mockup to show the charge-and-release sequence.</a:t>
            </a:r>
          </a:p>
        </p:txBody>
      </p:sp>
    </p:spTree>
    <p:extLst>
      <p:ext uri="{BB962C8B-B14F-4D97-AF65-F5344CB8AC3E}">
        <p14:creationId xmlns:p14="http://schemas.microsoft.com/office/powerpoint/2010/main" val="8435595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74DB16E-77F9-46A1-9D7F-9BFAEB17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ORB CHARGING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4C62585-1501-4559-AD19-08E1B74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A1849-54D8-491E-8DC6-A090B560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C627DB-8371-4457-8EFE-20DE9C76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Start with five Fire orbs in the queue.</a:t>
            </a:r>
          </a:p>
        </p:txBody>
      </p:sp>
      <p:sp>
        <p:nvSpPr>
          <p:cNvPr id="5" name="orb-label">
            <a:extLst xmlns:a="http://schemas.openxmlformats.org/drawingml/2006/main">
              <a:ext uri="{FF2B5EF4-FFF2-40B4-BE49-F238E27FC236}">
                <a16:creationId xmlns:a16="http://schemas.microsoft.com/office/drawing/2014/main" id="{6A018731-398A-42D8-881C-87E2EAA4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B6A73"/>
                </a:solidFill>
              </a:defRPr>
            </a:pPr>
            <a:r>
              <a:rPr sz="1800" b="1">
                <a:solidFill>
                  <a:srgbClr val="5B6A73"/>
                </a:solidFill>
              </a:rPr>
              <a:t>UNMARKED QUEUE</a:t>
            </a:r>
          </a:p>
        </p:txBody>
      </p:sp>
      <p:sp>
        <p:nvSpPr>
          <p:cNvPr id="6" name="fire-orb">
            <a:extLst xmlns:a="http://schemas.openxmlformats.org/drawingml/2006/main">
              <a:ext uri="{FF2B5EF4-FFF2-40B4-BE49-F238E27FC236}">
                <a16:creationId xmlns:a16="http://schemas.microsoft.com/office/drawing/2014/main" id="{E41D1163-83C0-4696-BB95-6CBC354F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7" name="orb-letter">
            <a:extLst xmlns:a="http://schemas.openxmlformats.org/drawingml/2006/main">
              <a:ext uri="{FF2B5EF4-FFF2-40B4-BE49-F238E27FC236}">
                <a16:creationId xmlns:a16="http://schemas.microsoft.com/office/drawing/2014/main" id="{713F71A8-2D05-4140-9CAA-D515F5FE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fire-orb">
            <a:extLst xmlns:a="http://schemas.openxmlformats.org/drawingml/2006/main">
              <a:ext uri="{FF2B5EF4-FFF2-40B4-BE49-F238E27FC236}">
                <a16:creationId xmlns:a16="http://schemas.microsoft.com/office/drawing/2014/main" id="{6E851A18-05F1-4887-AB97-1F84915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9" name="orb-letter">
            <a:extLst xmlns:a="http://schemas.openxmlformats.org/drawingml/2006/main">
              <a:ext uri="{FF2B5EF4-FFF2-40B4-BE49-F238E27FC236}">
                <a16:creationId xmlns:a16="http://schemas.microsoft.com/office/drawing/2014/main" id="{9F233394-832E-4B3A-9F9E-5931D8E3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0" name="fire-orb">
            <a:extLst xmlns:a="http://schemas.openxmlformats.org/drawingml/2006/main">
              <a:ext uri="{FF2B5EF4-FFF2-40B4-BE49-F238E27FC236}">
                <a16:creationId xmlns:a16="http://schemas.microsoft.com/office/drawing/2014/main" id="{141BC6A6-49EA-40F5-B9D5-CF09E1C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1" name="orb-letter">
            <a:extLst xmlns:a="http://schemas.openxmlformats.org/drawingml/2006/main">
              <a:ext uri="{FF2B5EF4-FFF2-40B4-BE49-F238E27FC236}">
                <a16:creationId xmlns:a16="http://schemas.microsoft.com/office/drawing/2014/main" id="{F4A854D3-0C3E-48C6-BA98-E15D7663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2" name="fire-orb">
            <a:extLst xmlns:a="http://schemas.openxmlformats.org/drawingml/2006/main">
              <a:ext uri="{FF2B5EF4-FFF2-40B4-BE49-F238E27FC236}">
                <a16:creationId xmlns:a16="http://schemas.microsoft.com/office/drawing/2014/main" id="{4907FEF1-A39D-4C6F-8061-53713C1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3" name="orb-letter">
            <a:extLst xmlns:a="http://schemas.openxmlformats.org/drawingml/2006/main">
              <a:ext uri="{FF2B5EF4-FFF2-40B4-BE49-F238E27FC236}">
                <a16:creationId xmlns:a16="http://schemas.microsoft.com/office/drawing/2014/main" id="{1160E182-F27D-4C23-8717-9A61F81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4" name="fire-orb">
            <a:extLst xmlns:a="http://schemas.openxmlformats.org/drawingml/2006/main">
              <a:ext uri="{FF2B5EF4-FFF2-40B4-BE49-F238E27FC236}">
                <a16:creationId xmlns:a16="http://schemas.microsoft.com/office/drawing/2014/main" id="{F88A00A7-C27F-46F5-8319-3B584DA1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5" name="orb-letter">
            <a:extLst xmlns:a="http://schemas.openxmlformats.org/drawingml/2006/main">
              <a:ext uri="{FF2B5EF4-FFF2-40B4-BE49-F238E27FC236}">
                <a16:creationId xmlns:a16="http://schemas.microsoft.com/office/drawing/2014/main" id="{8981BE49-72B5-44AC-93C6-E60B1396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F9C0CD84-622F-4AAE-A1A6-6592B843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3D5D1C60-A387-4EF6-B5DB-3F49449C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43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R2 marking progress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F8819F75-F328-4C45-B65C-DD7CEB0C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292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No orbs are ready to spend yet.</a:t>
            </a:r>
          </a:p>
        </p:txBody>
      </p:sp>
    </p:spTree>
    <p:extLst>
      <p:ext uri="{BB962C8B-B14F-4D97-AF65-F5344CB8AC3E}">
        <p14:creationId xmlns:p14="http://schemas.microsoft.com/office/powerpoint/2010/main" val="21294469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721911C-CF9E-478A-8C10-AD8376B4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ORB CHARGING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855608F-D895-4BA7-B25E-D46C51E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1BA0F-62AD-47EC-A1BA-8C5E71CE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697A65-B603-4D44-AB94-FEEBBAAF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Half-press R2 to begin marking the queue.</a:t>
            </a:r>
          </a:p>
        </p:txBody>
      </p:sp>
      <p:sp>
        <p:nvSpPr>
          <p:cNvPr id="5" name="orb-label">
            <a:extLst xmlns:a="http://schemas.openxmlformats.org/drawingml/2006/main">
              <a:ext uri="{FF2B5EF4-FFF2-40B4-BE49-F238E27FC236}">
                <a16:creationId xmlns:a16="http://schemas.microsoft.com/office/drawing/2014/main" id="{26C47CB0-9852-4446-BE6A-96E0B2AA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B6A73"/>
                </a:solidFill>
              </a:defRPr>
            </a:pPr>
            <a:r>
              <a:rPr sz="1800" b="1">
                <a:solidFill>
                  <a:srgbClr val="5B6A73"/>
                </a:solidFill>
              </a:rPr>
              <a:t>R2 IN THE CHARGE BAND — TWO ORBS MARKED</a:t>
            </a:r>
          </a:p>
        </p:txBody>
      </p:sp>
      <p:sp>
        <p:nvSpPr>
          <p:cNvPr id="6" name="fire-orb">
            <a:extLst xmlns:a="http://schemas.openxmlformats.org/drawingml/2006/main">
              <a:ext uri="{FF2B5EF4-FFF2-40B4-BE49-F238E27FC236}">
                <a16:creationId xmlns:a16="http://schemas.microsoft.com/office/drawing/2014/main" id="{F0AEAE2E-BB04-4CDE-84C2-80F29E05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7" name="orb-letter">
            <a:extLst xmlns:a="http://schemas.openxmlformats.org/drawingml/2006/main">
              <a:ext uri="{FF2B5EF4-FFF2-40B4-BE49-F238E27FC236}">
                <a16:creationId xmlns:a16="http://schemas.microsoft.com/office/drawing/2014/main" id="{21E7B2DC-CE0E-49E3-BC7A-2EB42635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fire-orb">
            <a:extLst xmlns:a="http://schemas.openxmlformats.org/drawingml/2006/main">
              <a:ext uri="{FF2B5EF4-FFF2-40B4-BE49-F238E27FC236}">
                <a16:creationId xmlns:a16="http://schemas.microsoft.com/office/drawing/2014/main" id="{2C33FA8C-3B21-44E3-889F-A0664E91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9" name="orb-letter">
            <a:extLst xmlns:a="http://schemas.openxmlformats.org/drawingml/2006/main">
              <a:ext uri="{FF2B5EF4-FFF2-40B4-BE49-F238E27FC236}">
                <a16:creationId xmlns:a16="http://schemas.microsoft.com/office/drawing/2014/main" id="{CC6DE652-9085-4094-AA40-63AF004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0" name="fire-orb">
            <a:extLst xmlns:a="http://schemas.openxmlformats.org/drawingml/2006/main">
              <a:ext uri="{FF2B5EF4-FFF2-40B4-BE49-F238E27FC236}">
                <a16:creationId xmlns:a16="http://schemas.microsoft.com/office/drawing/2014/main" id="{D59FFEB1-42D0-4376-9453-CB2AD350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1" name="orb-letter">
            <a:extLst xmlns:a="http://schemas.openxmlformats.org/drawingml/2006/main">
              <a:ext uri="{FF2B5EF4-FFF2-40B4-BE49-F238E27FC236}">
                <a16:creationId xmlns:a16="http://schemas.microsoft.com/office/drawing/2014/main" id="{5CC89232-4320-4365-B361-A21EA4AD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2" name="fire-orb">
            <a:extLst xmlns:a="http://schemas.openxmlformats.org/drawingml/2006/main">
              <a:ext uri="{FF2B5EF4-FFF2-40B4-BE49-F238E27FC236}">
                <a16:creationId xmlns:a16="http://schemas.microsoft.com/office/drawing/2014/main" id="{2CDF5C8F-4117-419F-BA37-18C48CB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3" name="orb-letter">
            <a:extLst xmlns:a="http://schemas.openxmlformats.org/drawingml/2006/main">
              <a:ext uri="{FF2B5EF4-FFF2-40B4-BE49-F238E27FC236}">
                <a16:creationId xmlns:a16="http://schemas.microsoft.com/office/drawing/2014/main" id="{CD55D314-57EF-41FE-A441-DBF400FB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4" name="fire-orb">
            <a:extLst xmlns:a="http://schemas.openxmlformats.org/drawingml/2006/main">
              <a:ext uri="{FF2B5EF4-FFF2-40B4-BE49-F238E27FC236}">
                <a16:creationId xmlns:a16="http://schemas.microsoft.com/office/drawing/2014/main" id="{F3718794-B7B3-46E5-BA6A-A185C887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19050">
            <a:solidFill>
              <a:srgbClr val="C9D2D7"/>
            </a:solidFill>
            <a:prstDash val="solid"/>
          </a:ln>
        </p:spPr>
      </p:sp>
      <p:sp>
        <p:nvSpPr>
          <p:cNvPr id="15" name="orb-letter">
            <a:extLst xmlns:a="http://schemas.openxmlformats.org/drawingml/2006/main">
              <a:ext uri="{FF2B5EF4-FFF2-40B4-BE49-F238E27FC236}">
                <a16:creationId xmlns:a16="http://schemas.microsoft.com/office/drawing/2014/main" id="{5096F053-DE8B-4264-A7EF-06ECD05A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BBEF5A75-79F3-459E-80D4-2932B0BE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9E647C4E-26E1-4044-BDF9-BEEC408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43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R2 marking progress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BAF08B34-3B6D-46CC-990D-526BF3CF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The player can keep fighting while the current orb queue gains casting capacity.</a:t>
            </a:r>
          </a:p>
        </p:txBody>
      </p:sp>
    </p:spTree>
    <p:extLst>
      <p:ext uri="{BB962C8B-B14F-4D97-AF65-F5344CB8AC3E}">
        <p14:creationId xmlns:p14="http://schemas.microsoft.com/office/powerpoint/2010/main" val="14297833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92A62D9-9C97-4749-AF93-28A5D86C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ORB CHARGING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29EA97C-119B-4CCD-A178-D717363C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3F19B-3DBA-4EEE-9E5E-9B37E39E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B51671-FE46-4B3A-B069-4C9D606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Keep half-pressing to mark all five Fire orbs.</a:t>
            </a:r>
          </a:p>
        </p:txBody>
      </p:sp>
      <p:sp>
        <p:nvSpPr>
          <p:cNvPr id="5" name="orb-label">
            <a:extLst xmlns:a="http://schemas.openxmlformats.org/drawingml/2006/main">
              <a:ext uri="{FF2B5EF4-FFF2-40B4-BE49-F238E27FC236}">
                <a16:creationId xmlns:a16="http://schemas.microsoft.com/office/drawing/2014/main" id="{25AFF206-53DD-4EA3-9D1B-FD85691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B6A73"/>
                </a:solidFill>
              </a:defRPr>
            </a:pPr>
            <a:r>
              <a:rPr sz="1800" b="1">
                <a:solidFill>
                  <a:srgbClr val="5B6A73"/>
                </a:solidFill>
              </a:rPr>
              <a:t>FIVE ORBS MARKED</a:t>
            </a:r>
          </a:p>
        </p:txBody>
      </p:sp>
      <p:sp>
        <p:nvSpPr>
          <p:cNvPr id="6" name="fire-orb">
            <a:extLst xmlns:a="http://schemas.openxmlformats.org/drawingml/2006/main">
              <a:ext uri="{FF2B5EF4-FFF2-40B4-BE49-F238E27FC236}">
                <a16:creationId xmlns:a16="http://schemas.microsoft.com/office/drawing/2014/main" id="{E008C0BF-DF01-4FFC-8450-7BBA70B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7" name="orb-letter">
            <a:extLst xmlns:a="http://schemas.openxmlformats.org/drawingml/2006/main">
              <a:ext uri="{FF2B5EF4-FFF2-40B4-BE49-F238E27FC236}">
                <a16:creationId xmlns:a16="http://schemas.microsoft.com/office/drawing/2014/main" id="{6AA94716-313E-43AC-9708-FD1FF0D2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fire-orb">
            <a:extLst xmlns:a="http://schemas.openxmlformats.org/drawingml/2006/main">
              <a:ext uri="{FF2B5EF4-FFF2-40B4-BE49-F238E27FC236}">
                <a16:creationId xmlns:a16="http://schemas.microsoft.com/office/drawing/2014/main" id="{15D7A78D-BE40-473F-AEFD-F7104649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9" name="orb-letter">
            <a:extLst xmlns:a="http://schemas.openxmlformats.org/drawingml/2006/main">
              <a:ext uri="{FF2B5EF4-FFF2-40B4-BE49-F238E27FC236}">
                <a16:creationId xmlns:a16="http://schemas.microsoft.com/office/drawing/2014/main" id="{384B7DAC-9FEF-44EE-9542-AD67A6B9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0" name="fire-orb">
            <a:extLst xmlns:a="http://schemas.openxmlformats.org/drawingml/2006/main">
              <a:ext uri="{FF2B5EF4-FFF2-40B4-BE49-F238E27FC236}">
                <a16:creationId xmlns:a16="http://schemas.microsoft.com/office/drawing/2014/main" id="{86B94E4C-1F81-4E81-B31D-2BC25C23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11" name="orb-letter">
            <a:extLst xmlns:a="http://schemas.openxmlformats.org/drawingml/2006/main">
              <a:ext uri="{FF2B5EF4-FFF2-40B4-BE49-F238E27FC236}">
                <a16:creationId xmlns:a16="http://schemas.microsoft.com/office/drawing/2014/main" id="{528A27FE-338D-4609-BEEB-C1474C92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2" name="fire-orb">
            <a:extLst xmlns:a="http://schemas.openxmlformats.org/drawingml/2006/main">
              <a:ext uri="{FF2B5EF4-FFF2-40B4-BE49-F238E27FC236}">
                <a16:creationId xmlns:a16="http://schemas.microsoft.com/office/drawing/2014/main" id="{674B41AC-C1B4-4BEE-9B8A-A552E38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13" name="orb-letter">
            <a:extLst xmlns:a="http://schemas.openxmlformats.org/drawingml/2006/main">
              <a:ext uri="{FF2B5EF4-FFF2-40B4-BE49-F238E27FC236}">
                <a16:creationId xmlns:a16="http://schemas.microsoft.com/office/drawing/2014/main" id="{8BDC6621-B0B8-418B-8F3C-9AFDB07E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4" name="fire-orb">
            <a:extLst xmlns:a="http://schemas.openxmlformats.org/drawingml/2006/main">
              <a:ext uri="{FF2B5EF4-FFF2-40B4-BE49-F238E27FC236}">
                <a16:creationId xmlns:a16="http://schemas.microsoft.com/office/drawing/2014/main" id="{E4058E6E-0D9A-4E2A-8DED-6B0CC4C5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47625">
            <a:solidFill>
              <a:srgbClr val="122431"/>
            </a:solidFill>
            <a:prstDash val="solid"/>
          </a:ln>
        </p:spPr>
      </p:sp>
      <p:sp>
        <p:nvSpPr>
          <p:cNvPr id="15" name="orb-letter">
            <a:extLst xmlns:a="http://schemas.openxmlformats.org/drawingml/2006/main">
              <a:ext uri="{FF2B5EF4-FFF2-40B4-BE49-F238E27FC236}">
                <a16:creationId xmlns:a16="http://schemas.microsoft.com/office/drawing/2014/main" id="{6DD3388E-9EC6-484B-BB5D-A66E4393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55E64C8E-003D-48CF-A49E-7FBA674B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329E7390-DC0E-4348-A7E3-FAAA7AC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43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A73"/>
                </a:solidFill>
              </a:defRPr>
            </a:pPr>
            <a:r>
              <a:rPr sz="1425" b="0">
                <a:solidFill>
                  <a:srgbClr val="5B6A73"/>
                </a:solidFill>
              </a:rPr>
              <a:t>R2 marking progress</a:t>
            </a:r>
          </a:p>
        </p:txBody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1AD133B0-A9A6-4C23-BDA2-0AB0075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Five marked orbs now support a level-five Cast.</a:t>
            </a:r>
          </a:p>
        </p:txBody>
      </p:sp>
    </p:spTree>
    <p:extLst>
      <p:ext uri="{BB962C8B-B14F-4D97-AF65-F5344CB8AC3E}">
        <p14:creationId xmlns:p14="http://schemas.microsoft.com/office/powerpoint/2010/main" val="4286262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96D52F67-3D49-4B6D-908A-06D17F43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71E5149-D5A6-464B-8B51-DB95FDC5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1F3E5-660B-47C3-8981-F1E8815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F3758E-2A26-4E16-A52C-FC8E035F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Enter full R2 pressure to commit the marked orbs.</a:t>
            </a:r>
          </a:p>
        </p:txBody>
      </p:sp>
      <p:sp>
        <p:nvSpPr>
          <p:cNvPr id="5" name="orbs">
            <a:extLst xmlns:a="http://schemas.openxmlformats.org/drawingml/2006/main">
              <a:ext uri="{FF2B5EF4-FFF2-40B4-BE49-F238E27FC236}">
                <a16:creationId xmlns:a16="http://schemas.microsoft.com/office/drawing/2014/main" id="{BBDE37AE-21F3-4B65-B56F-04EE4E87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45B43"/>
                </a:solidFill>
              </a:defRPr>
            </a:pPr>
            <a:r>
              <a:rPr sz="2550" b="1">
                <a:solidFill>
                  <a:srgbClr val="F45B43"/>
                </a:solidFill>
              </a:rPr>
              <a:t>F F F F F</a:t>
            </a:r>
          </a:p>
        </p:txBody>
      </p:sp>
      <p:sp>
        <p:nvSpPr>
          <p:cNvPr id="6" name="input">
            <a:extLst xmlns:a="http://schemas.openxmlformats.org/drawingml/2006/main">
              <a:ext uri="{FF2B5EF4-FFF2-40B4-BE49-F238E27FC236}">
                <a16:creationId xmlns:a16="http://schemas.microsoft.com/office/drawing/2014/main" id="{E4180703-47B8-42C3-BAA7-5EFD32A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FULL R2</a:t>
            </a:r>
          </a:p>
        </p:txBody>
      </p:sp>
      <p:sp>
        <p:nvSpPr>
          <p:cNvPr id="7" name="outcome">
            <a:extLst xmlns:a="http://schemas.openxmlformats.org/drawingml/2006/main">
              <a:ext uri="{FF2B5EF4-FFF2-40B4-BE49-F238E27FC236}">
                <a16:creationId xmlns:a16="http://schemas.microsoft.com/office/drawing/2014/main" id="{9897CE27-06CC-4F5D-A489-4550FD49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LEVEL 5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FIRE 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9DEC8-EACC-4F23-B8C3-86791485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F9092-BA40-4EBA-943D-2EF4F97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mock-fireball">
            <a:extLst xmlns:a="http://schemas.openxmlformats.org/drawingml/2006/main">
              <a:ext uri="{FF2B5EF4-FFF2-40B4-BE49-F238E27FC236}">
                <a16:creationId xmlns:a16="http://schemas.microsoft.com/office/drawing/2014/main" id="{EC377A18-3404-4E81-B1D6-045F2185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mock-label">
            <a:extLst xmlns:a="http://schemas.openxmlformats.org/drawingml/2006/main">
              <a:ext uri="{FF2B5EF4-FFF2-40B4-BE49-F238E27FC236}">
                <a16:creationId xmlns:a16="http://schemas.microsoft.com/office/drawing/2014/main" id="{460B40D4-8C06-4A64-A8F0-9E9A296A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71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Mock Fireball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EA734090-5CC5-408B-8D9A-325D9DBD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The marked orbs are consumed immediately, and the result is a level-five Fire Cast.</a:t>
            </a:r>
          </a:p>
        </p:txBody>
      </p:sp>
    </p:spTree>
    <p:extLst>
      <p:ext uri="{BB962C8B-B14F-4D97-AF65-F5344CB8AC3E}">
        <p14:creationId xmlns:p14="http://schemas.microsoft.com/office/powerpoint/2010/main" val="19367066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7A1657D-E2D8-4E2A-B3F2-BCA0A60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29E53796-8855-4E79-ADAD-A6211E9F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7DEF0EC5-62F9-4499-85AA-04975A08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MELEE-CASTING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5D9DD8BA-7284-4217-BF89-CCDCC23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Casting is not a pause between combos; it can occupy a combo position.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CD4FBB-3EC2-404D-BA3F-608B83CF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11576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5F2BB49E-4FBF-433E-A604-C1A82DC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MELEE-CASTING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1CAD89D-4898-4997-80A8-F76C7433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5E4FD-FBAC-42E6-8AC5-07FB2129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B11B48-161E-4F1B-BA68-26DCA2B6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An endpoint Cast can close a full melee chain.</a:t>
            </a:r>
          </a:p>
        </p:txBody>
      </p:sp>
      <p:sp>
        <p:nvSpPr>
          <p:cNvPr id="5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1EAE8BA2-D609-42A5-A045-DAD82859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FEA55E02-8B3C-492F-8613-2334FC5A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6DDF0-187C-49DF-B614-2338509A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8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19FDD4E8-80A4-48ED-8405-B4BB5BAB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E5560B91-D6F7-4748-B811-C4CB82A4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E1939-D1AE-4DD2-BC49-22AF9938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2FF20F7C-CA91-41EC-914F-FDEAD541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EEAC481E-ED6A-4308-B88D-E83947F3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BD0C2-5A8A-4051-AB72-87A0B093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35893C83-74C8-4BE2-B7CF-EBEDCC50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F7623692-0369-4C08-8A4F-21BDA0F8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6323E-2C6C-457E-8B28-B6A1FD5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7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714949FC-0510-4736-AF13-FE8EBBD4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9041DF93-2F5B-4DAE-B053-9103C81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AE63B-BAC6-4D7A-8F16-59F05899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766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0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61404D39-5A99-4BA3-82F0-4C1B3C7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2564378C-946D-4FBF-B25C-FE5AC743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147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CAST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6333742D-4EB0-4F15-99DD-4AB26A1B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22431"/>
                </a:solidFill>
              </a:defRPr>
            </a:pPr>
            <a:r>
              <a:rPr sz="2250" b="1">
                <a:solidFill>
                  <a:srgbClr val="122431"/>
                </a:solidFill>
              </a:rPr>
              <a:t>X X X X X → Cast</a:t>
            </a:r>
          </a:p>
        </p:txBody>
      </p:sp>
    </p:spTree>
    <p:extLst>
      <p:ext uri="{BB962C8B-B14F-4D97-AF65-F5344CB8AC3E}">
        <p14:creationId xmlns:p14="http://schemas.microsoft.com/office/powerpoint/2010/main" val="12893240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A6132CFF-46D7-4835-A459-0AEDD104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MELEE-CASTING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F6A9945-7E39-4B98-BEEC-D7B20F8B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9183F-1290-4562-9AB0-03C61D34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E6B065-5FC6-47DD-AF43-402643A6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22431"/>
                </a:solidFill>
              </a:defRPr>
            </a:pPr>
            <a:r>
              <a:rPr sz="3300" b="1">
                <a:solidFill>
                  <a:srgbClr val="122431"/>
                </a:solidFill>
              </a:rPr>
              <a:t>A Cast occupies a position. The sixth action is rejected.</a:t>
            </a:r>
          </a:p>
        </p:txBody>
      </p:sp>
      <p:sp>
        <p:nvSpPr>
          <p:cNvPr id="5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B53E5B5B-E149-411B-9F1A-37E31A40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771E5E9F-C32E-4D5C-BC6A-D8B707BF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08040-48C2-476B-BBBE-4185E435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8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B15BB76D-3BD4-48EB-89CC-C4450ED3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0AC87CA1-0762-4145-A375-9BB7A0F1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B147B-8B12-4F74-8727-55773824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B8A1F1C9-4DBD-4F71-A733-99F829B7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509AF1BC-209C-4D95-A9C3-9D813EE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CAST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65CAF-776D-4370-9B55-711FE58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0F4A31B2-76B4-4EC3-B798-F62439B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492474B6-6871-4A0C-BD84-27F39C31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B516A-AC2C-4217-9738-C3C9B5C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7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81A64154-5C63-4984-ACB2-C11A6C5E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630AC929-2D5D-4B6F-AE55-E2FADA62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EC4A7-6DC2-4B85-A6CB-16CA0157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43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0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DD833DA3-09B7-4C02-90B0-5A31071C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21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76E47500-2605-4E86-ACBF-29CF581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813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X6</a:t>
            </a:r>
          </a:p>
        </p:txBody>
      </p:sp>
      <p:sp>
        <p:nvSpPr>
          <p:cNvPr id="22" name="no-cell">
            <a:extLst xmlns:a="http://schemas.openxmlformats.org/drawingml/2006/main">
              <a:ext uri="{FF2B5EF4-FFF2-40B4-BE49-F238E27FC236}">
                <a16:creationId xmlns:a16="http://schemas.microsoft.com/office/drawing/2014/main" id="{4E1F5A29-9211-44CC-B854-1BBC841D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314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F45B43"/>
            </a:solidFill>
            <a:prstDash val="solid"/>
          </a:ln>
        </p:spPr>
      </p:sp>
      <p:sp>
        <p:nvSpPr>
          <p:cNvPr id="23" name="no">
            <a:extLst xmlns:a="http://schemas.openxmlformats.org/drawingml/2006/main">
              <a:ext uri="{FF2B5EF4-FFF2-40B4-BE49-F238E27FC236}">
                <a16:creationId xmlns:a16="http://schemas.microsoft.com/office/drawing/2014/main" id="{9847FCCE-55AE-4C33-A2B8-0D16BD3A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45B43"/>
                </a:solidFill>
              </a:defRPr>
            </a:pPr>
            <a:r>
              <a:rPr sz="2025" b="1">
                <a:solidFill>
                  <a:srgbClr val="F45B43"/>
                </a:solidFill>
              </a:rPr>
              <a:t>NO</a:t>
            </a:r>
          </a:p>
        </p:txBody>
      </p:sp>
      <p:sp>
        <p:nvSpPr>
          <p:cNvPr id="24" name="x6">
            <a:extLst xmlns:a="http://schemas.openxmlformats.org/drawingml/2006/main">
              <a:ext uri="{FF2B5EF4-FFF2-40B4-BE49-F238E27FC236}">
                <a16:creationId xmlns:a16="http://schemas.microsoft.com/office/drawing/2014/main" id="{5482D100-C6CF-4FC8-BD1C-6F708251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38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45B43"/>
                </a:solidFill>
              </a:defRPr>
            </a:pPr>
            <a:r>
              <a:rPr sz="1875" b="1">
                <a:solidFill>
                  <a:srgbClr val="F45B43"/>
                </a:solidFill>
              </a:rPr>
              <a:t>X6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5D5DF346-8F54-4109-8677-6A53D7F4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X X → Cast → X X X is invalid: the Cast has already taken position 3.</a:t>
            </a:r>
          </a:p>
        </p:txBody>
      </p:sp>
    </p:spTree>
    <p:extLst>
      <p:ext uri="{BB962C8B-B14F-4D97-AF65-F5344CB8AC3E}">
        <p14:creationId xmlns:p14="http://schemas.microsoft.com/office/powerpoint/2010/main" val="1409026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9844C8B-3B26-476E-A71B-BDFB2B62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MELEE-CASTING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C0CB87E-3CEE-4144-BA11-CBB747BB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A7946-A9CF-4189-A0E5-E4FA3BD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501012-FF21-4AEA-A514-390E0BB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The same rule creates two different valid finishes.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EFD56846-DEA6-476D-8B35-DCA65E1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067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7EE32D9-B8A9-480E-A509-1EA9DCD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5067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">
            <a:extLst xmlns:a="http://schemas.openxmlformats.org/drawingml/2006/main">
              <a:ext uri="{FF2B5EF4-FFF2-40B4-BE49-F238E27FC236}">
                <a16:creationId xmlns:a16="http://schemas.microsoft.com/office/drawing/2014/main" id="{B0223970-B162-47BD-8EEE-FBE722B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MELEE FINISHER</a:t>
            </a:r>
          </a:p>
        </p:txBody>
      </p:sp>
      <p:sp>
        <p:nvSpPr>
          <p:cNvPr id="8" name="string">
            <a:extLst xmlns:a="http://schemas.openxmlformats.org/drawingml/2006/main">
              <a:ext uri="{FF2B5EF4-FFF2-40B4-BE49-F238E27FC236}">
                <a16:creationId xmlns:a16="http://schemas.microsoft.com/office/drawing/2014/main" id="{CCBDF2CC-B243-467A-B438-273FA008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X X → Cast → X X</a:t>
            </a:r>
          </a:p>
        </p:txBody>
      </p:sp>
      <p:sp>
        <p:nvSpPr>
          <p:cNvPr id="9" name="head">
            <a:extLst xmlns:a="http://schemas.openxmlformats.org/drawingml/2006/main">
              <a:ext uri="{FF2B5EF4-FFF2-40B4-BE49-F238E27FC236}">
                <a16:creationId xmlns:a16="http://schemas.microsoft.com/office/drawing/2014/main" id="{2B76A0B5-F4AF-46B5-A209-BC103C72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CAST FINISHER</a:t>
            </a:r>
          </a:p>
        </p:txBody>
      </p:sp>
      <p:sp>
        <p:nvSpPr>
          <p:cNvPr id="10" name="string">
            <a:extLst xmlns:a="http://schemas.openxmlformats.org/drawingml/2006/main">
              <a:ext uri="{FF2B5EF4-FFF2-40B4-BE49-F238E27FC236}">
                <a16:creationId xmlns:a16="http://schemas.microsoft.com/office/drawing/2014/main" id="{215C1285-5A3F-4C9F-BE5E-1F5CAF92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X X → Cast → X X → Cast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53B48A19-81DE-4670-91EA-38BB4A25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721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A player can end with the last melee actions—or use the optional endpoint Cast.</a:t>
            </a:r>
          </a:p>
        </p:txBody>
      </p:sp>
    </p:spTree>
    <p:extLst>
      <p:ext uri="{BB962C8B-B14F-4D97-AF65-F5344CB8AC3E}">
        <p14:creationId xmlns:p14="http://schemas.microsoft.com/office/powerpoint/2010/main" val="13846848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A6DE834B-642C-46D1-AFDD-324FDF37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MELEE-CASTING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2D36C86-1860-461E-81AE-31691094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4D15B-B9F8-426D-B809-2E3717B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5EC81B-3E12-4C97-88D0-4F1217A2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Casts can also chain directly into another Cast.</a:t>
            </a:r>
          </a:p>
        </p:txBody>
      </p:sp>
      <p:sp>
        <p:nvSpPr>
          <p:cNvPr id="5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B928E278-CE4B-4753-8D9E-166AF14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848B4CB4-3AC0-4087-A3FD-66C76C04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76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021E6-1D48-4CEB-B760-521FBF62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8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49DA7FBE-8E94-4341-BC8A-3CE257CE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B81C8CB7-E635-4B9A-AFBD-FCBAD0EE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76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CAST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X2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B4E15-599A-4222-B392-7E77D1EE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1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3B79D51F-DC1B-4625-874A-AEA64EA4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D0D701DA-0B94-4C74-8908-29840F1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22431"/>
                </a:solidFill>
              </a:defRPr>
            </a:pPr>
            <a:r>
              <a:rPr sz="2100" b="1">
                <a:solidFill>
                  <a:srgbClr val="122431"/>
                </a:solidFill>
              </a:rPr>
              <a:t>X3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995F1-0895-4E9F-950A-0A1E2B12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4" name="sequence-cell">
            <a:extLst xmlns:a="http://schemas.openxmlformats.org/drawingml/2006/main">
              <a:ext uri="{FF2B5EF4-FFF2-40B4-BE49-F238E27FC236}">
                <a16:creationId xmlns:a16="http://schemas.microsoft.com/office/drawing/2014/main" id="{71ECB834-2478-4F13-9628-D8FF648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equence-label">
            <a:extLst xmlns:a="http://schemas.openxmlformats.org/drawingml/2006/main">
              <a:ext uri="{FF2B5EF4-FFF2-40B4-BE49-F238E27FC236}">
                <a16:creationId xmlns:a16="http://schemas.microsoft.com/office/drawing/2014/main" id="{BFFB9EEE-0AAB-410F-9C34-79A611FA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CAST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X4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922361BC-A79C-4344-89D2-BC86AAFB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22431"/>
                </a:solidFill>
              </a:defRPr>
            </a:pPr>
            <a:r>
              <a:rPr sz="2250" b="1">
                <a:solidFill>
                  <a:srgbClr val="122431"/>
                </a:solidFill>
              </a:rPr>
              <a:t>X → Cast → X → Cast</a:t>
            </a:r>
          </a:p>
        </p:txBody>
      </p:sp>
    </p:spTree>
    <p:extLst>
      <p:ext uri="{BB962C8B-B14F-4D97-AF65-F5344CB8AC3E}">
        <p14:creationId xmlns:p14="http://schemas.microsoft.com/office/powerpoint/2010/main" val="15427543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F1A6F5A-1B6D-49AC-AB4F-A8225404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B4CF436A-20C0-45F4-AE71-B8E5108D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E436399C-184E-4F5D-9C89-A3C0BECB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FOUR SCHOOLS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29AAADEC-EF4E-4CB3-A3D1-DAF5D11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Each successful school attack contributes its own orb to the future Cast.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34B584-9D09-46A3-93EE-825F597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1069419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FA087128-6FB5-498B-AAE1-58276C9B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FOUR SCHOOLS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EBA845B-5DC5-4F09-9C97-EFF3DC52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75715-8661-45C7-A0E8-495DEE48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1EFCF3-9087-4F89-9A09-51115752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Each school puts a different orb into the same queue.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76777EB-9FE8-49A8-8F66-E7887A61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hool-orb">
            <a:extLst xmlns:a="http://schemas.openxmlformats.org/drawingml/2006/main">
              <a:ext uri="{FF2B5EF4-FFF2-40B4-BE49-F238E27FC236}">
                <a16:creationId xmlns:a16="http://schemas.microsoft.com/office/drawing/2014/main" id="{4A427C91-AF3E-4E33-AFD3-930652AF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7" name="letter">
            <a:extLst xmlns:a="http://schemas.openxmlformats.org/drawingml/2006/main">
              <a:ext uri="{FF2B5EF4-FFF2-40B4-BE49-F238E27FC236}">
                <a16:creationId xmlns:a16="http://schemas.microsoft.com/office/drawing/2014/main" id="{FEF4A0F3-278A-4BE5-8236-85C05EF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8" name="school">
            <a:extLst xmlns:a="http://schemas.openxmlformats.org/drawingml/2006/main">
              <a:ext uri="{FF2B5EF4-FFF2-40B4-BE49-F238E27FC236}">
                <a16:creationId xmlns:a16="http://schemas.microsoft.com/office/drawing/2014/main" id="{CE5B813F-37FF-4512-B623-8437B8EA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Fire</a:t>
            </a:r>
          </a:p>
        </p:txBody>
      </p:sp>
      <p:sp>
        <p:nvSpPr>
          <p:cNvPr id="9" name="desc">
            <a:extLst xmlns:a="http://schemas.openxmlformats.org/drawingml/2006/main">
              <a:ext uri="{FF2B5EF4-FFF2-40B4-BE49-F238E27FC236}">
                <a16:creationId xmlns:a16="http://schemas.microsoft.com/office/drawing/2014/main" id="{55F906E4-CAEA-444D-A741-3C8AE525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909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Successful hit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29BA7D5-89CE-42C3-B25B-A1B5D663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hool-orb">
            <a:extLst xmlns:a="http://schemas.openxmlformats.org/drawingml/2006/main">
              <a:ext uri="{FF2B5EF4-FFF2-40B4-BE49-F238E27FC236}">
                <a16:creationId xmlns:a16="http://schemas.microsoft.com/office/drawing/2014/main" id="{B8F627A8-598D-41CB-B2E6-F603FE6A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letter">
            <a:extLst xmlns:a="http://schemas.openxmlformats.org/drawingml/2006/main">
              <a:ext uri="{FF2B5EF4-FFF2-40B4-BE49-F238E27FC236}">
                <a16:creationId xmlns:a16="http://schemas.microsoft.com/office/drawing/2014/main" id="{1131223A-081C-4531-8DEA-2AAC1A9C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67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13" name="school">
            <a:extLst xmlns:a="http://schemas.openxmlformats.org/drawingml/2006/main">
              <a:ext uri="{FF2B5EF4-FFF2-40B4-BE49-F238E27FC236}">
                <a16:creationId xmlns:a16="http://schemas.microsoft.com/office/drawing/2014/main" id="{6D0675FA-F863-40E5-9781-D05C9D3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Water</a:t>
            </a:r>
          </a:p>
        </p:txBody>
      </p:sp>
      <p:sp>
        <p:nvSpPr>
          <p:cNvPr id="14" name="desc">
            <a:extLst xmlns:a="http://schemas.openxmlformats.org/drawingml/2006/main">
              <a:ext uri="{FF2B5EF4-FFF2-40B4-BE49-F238E27FC236}">
                <a16:creationId xmlns:a16="http://schemas.microsoft.com/office/drawing/2014/main" id="{CB5F8439-DA66-4BED-BC54-3B2E3EE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Successful hit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D2F6A74F-5F36-4205-A43D-291B168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hool-orb">
            <a:extLst xmlns:a="http://schemas.openxmlformats.org/drawingml/2006/main">
              <a:ext uri="{FF2B5EF4-FFF2-40B4-BE49-F238E27FC236}">
                <a16:creationId xmlns:a16="http://schemas.microsoft.com/office/drawing/2014/main" id="{94B0C71A-9600-4A58-8394-1F45B3C1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C8ED"/>
          </a:solidFill>
          <a:ln xmlns:a="http://schemas.openxmlformats.org/drawingml/2006/main" w="0">
            <a:solidFill>
              <a:srgbClr val="67C8ED"/>
            </a:solidFill>
            <a:prstDash val="solid"/>
          </a:ln>
        </p:spPr>
      </p:sp>
      <p:sp>
        <p:nvSpPr>
          <p:cNvPr id="17" name="letter">
            <a:extLst xmlns:a="http://schemas.openxmlformats.org/drawingml/2006/main">
              <a:ext uri="{FF2B5EF4-FFF2-40B4-BE49-F238E27FC236}">
                <a16:creationId xmlns:a16="http://schemas.microsoft.com/office/drawing/2014/main" id="{9C2FE604-1097-451D-97FA-909FCB2F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8" name="school">
            <a:extLst xmlns:a="http://schemas.openxmlformats.org/drawingml/2006/main">
              <a:ext uri="{FF2B5EF4-FFF2-40B4-BE49-F238E27FC236}">
                <a16:creationId xmlns:a16="http://schemas.microsoft.com/office/drawing/2014/main" id="{C45852A4-0626-494C-B5CB-CAE1FEFC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Air</a:t>
            </a:r>
          </a:p>
        </p:txBody>
      </p:sp>
      <p:sp>
        <p:nvSpPr>
          <p:cNvPr id="19" name="desc">
            <a:extLst xmlns:a="http://schemas.openxmlformats.org/drawingml/2006/main">
              <a:ext uri="{FF2B5EF4-FFF2-40B4-BE49-F238E27FC236}">
                <a16:creationId xmlns:a16="http://schemas.microsoft.com/office/drawing/2014/main" id="{77396FFA-096D-4EFD-9C6A-D86A36A6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Successful hit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1CEAC0C1-A0BF-4611-86DF-935F5C52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2479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hool-orb">
            <a:extLst xmlns:a="http://schemas.openxmlformats.org/drawingml/2006/main">
              <a:ext uri="{FF2B5EF4-FFF2-40B4-BE49-F238E27FC236}">
                <a16:creationId xmlns:a16="http://schemas.microsoft.com/office/drawing/2014/main" id="{FB15B5B7-7ED4-4098-9181-4E95564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solidFill>
              <a:srgbClr val="B39158"/>
            </a:solidFill>
            <a:prstDash val="solid"/>
          </a:ln>
        </p:spPr>
      </p:sp>
      <p:sp>
        <p:nvSpPr>
          <p:cNvPr id="22" name="letter">
            <a:extLst xmlns:a="http://schemas.openxmlformats.org/drawingml/2006/main">
              <a:ext uri="{FF2B5EF4-FFF2-40B4-BE49-F238E27FC236}">
                <a16:creationId xmlns:a16="http://schemas.microsoft.com/office/drawing/2014/main" id="{E94DD6C2-FADE-46DB-BF9C-C6FDA065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3" name="school">
            <a:extLst xmlns:a="http://schemas.openxmlformats.org/drawingml/2006/main">
              <a:ext uri="{FF2B5EF4-FFF2-40B4-BE49-F238E27FC236}">
                <a16:creationId xmlns:a16="http://schemas.microsoft.com/office/drawing/2014/main" id="{DED54992-8570-422E-87F1-56CC5AF8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Earth</a:t>
            </a:r>
          </a:p>
        </p:txBody>
      </p:sp>
      <p:sp>
        <p:nvSpPr>
          <p:cNvPr id="24" name="desc">
            <a:extLst xmlns:a="http://schemas.openxmlformats.org/drawingml/2006/main">
              <a:ext uri="{FF2B5EF4-FFF2-40B4-BE49-F238E27FC236}">
                <a16:creationId xmlns:a16="http://schemas.microsoft.com/office/drawing/2014/main" id="{6763D165-FD82-424D-8B47-90C5D69A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909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A73"/>
                </a:solidFill>
              </a:defRPr>
            </a:pPr>
            <a:r>
              <a:rPr sz="1350" b="0">
                <a:solidFill>
                  <a:srgbClr val="5B6A73"/>
                </a:solidFill>
              </a:rPr>
              <a:t>Successful hit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7FA32602-E1E4-419C-9D15-F58CCF9C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22431"/>
                </a:solidFill>
              </a:defRPr>
            </a:pPr>
            <a:r>
              <a:rPr sz="1875" b="1">
                <a:solidFill>
                  <a:srgbClr val="122431"/>
                </a:solidFill>
              </a:rPr>
              <a:t>The queue records the elemental composition the player has built through melee.</a:t>
            </a:r>
          </a:p>
        </p:txBody>
      </p:sp>
    </p:spTree>
    <p:extLst>
      <p:ext uri="{BB962C8B-B14F-4D97-AF65-F5344CB8AC3E}">
        <p14:creationId xmlns:p14="http://schemas.microsoft.com/office/powerpoint/2010/main" val="193472634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EC7E789-AF3E-487C-BDA9-B9F5A60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75024CFB-806A-491D-A6AE-FEE562E5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5773D45-7A61-4B84-8C21-3E521C17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MIXING ELEMENTS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C862B6B7-2FBE-4B53-A0F9-E04887F1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Once Casting is part of melee, the queue composition can shape one combined result.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EE3C19C-113D-476C-AB4E-4E06DFA0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6063869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11C709E1-DB89-4179-BF6F-06CCF595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MIXING ELEMENTS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12BD7D3-A484-4BC4-A4FF-26CF1B11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A6686-B1BE-40F2-A318-1602FDE2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B0021E-9DA5-47BC-A483-8A7C2F2B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One five-orb Cast can carry two school results.</a:t>
            </a:r>
          </a:p>
        </p:txBody>
      </p:sp>
      <p:sp>
        <p:nvSpPr>
          <p:cNvPr id="5" name="mix-orb">
            <a:extLst xmlns:a="http://schemas.openxmlformats.org/drawingml/2006/main">
              <a:ext uri="{FF2B5EF4-FFF2-40B4-BE49-F238E27FC236}">
                <a16:creationId xmlns:a16="http://schemas.microsoft.com/office/drawing/2014/main" id="{60D36A4C-76F1-4542-98B2-BBF456EF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solidFill>
              <a:srgbClr val="B39158"/>
            </a:solidFill>
            <a:prstDash val="solid"/>
          </a:ln>
        </p:spPr>
      </p:sp>
      <p:sp>
        <p:nvSpPr>
          <p:cNvPr id="6" name="letter">
            <a:extLst xmlns:a="http://schemas.openxmlformats.org/drawingml/2006/main">
              <a:ext uri="{FF2B5EF4-FFF2-40B4-BE49-F238E27FC236}">
                <a16:creationId xmlns:a16="http://schemas.microsoft.com/office/drawing/2014/main" id="{85F2CECA-4C32-46C0-8A53-5CF2B31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7" name="mix-orb">
            <a:extLst xmlns:a="http://schemas.openxmlformats.org/drawingml/2006/main">
              <a:ext uri="{FF2B5EF4-FFF2-40B4-BE49-F238E27FC236}">
                <a16:creationId xmlns:a16="http://schemas.microsoft.com/office/drawing/2014/main" id="{E5F9C465-865D-4BFC-A20F-F65E46FE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9158"/>
          </a:solidFill>
          <a:ln xmlns:a="http://schemas.openxmlformats.org/drawingml/2006/main" w="0">
            <a:solidFill>
              <a:srgbClr val="B39158"/>
            </a:solidFill>
            <a:prstDash val="solid"/>
          </a:ln>
        </p:spPr>
      </p:sp>
      <p:sp>
        <p:nvSpPr>
          <p:cNvPr id="8" name="letter">
            <a:extLst xmlns:a="http://schemas.openxmlformats.org/drawingml/2006/main">
              <a:ext uri="{FF2B5EF4-FFF2-40B4-BE49-F238E27FC236}">
                <a16:creationId xmlns:a16="http://schemas.microsoft.com/office/drawing/2014/main" id="{BAA6BAFC-9CEC-4AC2-BEB3-10BA9B23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9" name="mix-orb">
            <a:extLst xmlns:a="http://schemas.openxmlformats.org/drawingml/2006/main">
              <a:ext uri="{FF2B5EF4-FFF2-40B4-BE49-F238E27FC236}">
                <a16:creationId xmlns:a16="http://schemas.microsoft.com/office/drawing/2014/main" id="{BCB87A3C-1562-4AD8-928C-290BD7FE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10" name="letter">
            <a:extLst xmlns:a="http://schemas.openxmlformats.org/drawingml/2006/main">
              <a:ext uri="{FF2B5EF4-FFF2-40B4-BE49-F238E27FC236}">
                <a16:creationId xmlns:a16="http://schemas.microsoft.com/office/drawing/2014/main" id="{767E8C1E-8D7E-4117-81D2-593814FE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1" name="mix-orb">
            <a:extLst xmlns:a="http://schemas.openxmlformats.org/drawingml/2006/main">
              <a:ext uri="{FF2B5EF4-FFF2-40B4-BE49-F238E27FC236}">
                <a16:creationId xmlns:a16="http://schemas.microsoft.com/office/drawing/2014/main" id="{8531C26F-8882-4608-99C5-0537B4F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12" name="letter">
            <a:extLst xmlns:a="http://schemas.openxmlformats.org/drawingml/2006/main">
              <a:ext uri="{FF2B5EF4-FFF2-40B4-BE49-F238E27FC236}">
                <a16:creationId xmlns:a16="http://schemas.microsoft.com/office/drawing/2014/main" id="{79F0BF27-82DB-4BF0-A18C-9F6AF2A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3" name="mix-orb">
            <a:extLst xmlns:a="http://schemas.openxmlformats.org/drawingml/2006/main">
              <a:ext uri="{FF2B5EF4-FFF2-40B4-BE49-F238E27FC236}">
                <a16:creationId xmlns:a16="http://schemas.microsoft.com/office/drawing/2014/main" id="{CDFD5EC2-959A-43D9-A99E-83F48E5C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solidFill>
              <a:srgbClr val="F45B43"/>
            </a:solidFill>
            <a:prstDash val="solid"/>
          </a:ln>
        </p:spPr>
      </p:sp>
      <p:sp>
        <p:nvSpPr>
          <p:cNvPr id="14" name="letter">
            <a:extLst xmlns:a="http://schemas.openxmlformats.org/drawingml/2006/main">
              <a:ext uri="{FF2B5EF4-FFF2-40B4-BE49-F238E27FC236}">
                <a16:creationId xmlns:a16="http://schemas.microsoft.com/office/drawing/2014/main" id="{E6F73D59-7A06-4280-9C35-13145578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861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5" name="composition">
            <a:extLst xmlns:a="http://schemas.openxmlformats.org/drawingml/2006/main">
              <a:ext uri="{FF2B5EF4-FFF2-40B4-BE49-F238E27FC236}">
                <a16:creationId xmlns:a16="http://schemas.microsoft.com/office/drawing/2014/main" id="{4491C18C-4875-407A-8810-C918D840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195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22431"/>
                </a:solidFill>
              </a:defRPr>
            </a:pPr>
            <a:r>
              <a:rPr sz="2325" b="1">
                <a:solidFill>
                  <a:srgbClr val="122431"/>
                </a:solidFill>
              </a:rPr>
              <a:t>E E F F 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92BEE-51CC-474B-98E6-C1661F85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29EB3BB6-B515-4BDB-9560-832D2FE0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3028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37F0020E-0943-42C8-B315-7D06DFAA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5B43"/>
                </a:solidFill>
              </a:defRPr>
            </a:pPr>
            <a:r>
              <a:rPr sz="1425" b="1">
                <a:solidFill>
                  <a:srgbClr val="F45B43"/>
                </a:solidFill>
              </a:rPr>
              <a:t>PRIMARY</a:t>
            </a:r>
          </a:p>
        </p:txBody>
      </p:sp>
      <p:sp>
        <p:nvSpPr>
          <p:cNvPr id="19" name="primary">
            <a:extLst xmlns:a="http://schemas.openxmlformats.org/drawingml/2006/main">
              <a:ext uri="{FF2B5EF4-FFF2-40B4-BE49-F238E27FC236}">
                <a16:creationId xmlns:a16="http://schemas.microsoft.com/office/drawing/2014/main" id="{C7AEF086-0330-4225-BE63-15831FD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Fire level 5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49620B62-C234-40D0-832D-33C3CC4C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39158"/>
                </a:solidFill>
              </a:defRPr>
            </a:pPr>
            <a:r>
              <a:rPr sz="1425" b="1">
                <a:solidFill>
                  <a:srgbClr val="B39158"/>
                </a:solidFill>
              </a:rPr>
              <a:t>SECONDARY</a:t>
            </a:r>
          </a:p>
        </p:txBody>
      </p:sp>
      <p:sp>
        <p:nvSpPr>
          <p:cNvPr id="21" name="secondary">
            <a:extLst xmlns:a="http://schemas.openxmlformats.org/drawingml/2006/main">
              <a:ext uri="{FF2B5EF4-FFF2-40B4-BE49-F238E27FC236}">
                <a16:creationId xmlns:a16="http://schemas.microsoft.com/office/drawing/2014/main" id="{19E74577-4511-4599-8F5F-39C2A8B0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Earth level 1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D258AB4D-7075-486F-A47F-7ECD7F26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The five-orb level remains Fire 5; the Earth contribution adds a level-one secondary result.</a:t>
            </a:r>
          </a:p>
        </p:txBody>
      </p:sp>
    </p:spTree>
    <p:extLst>
      <p:ext uri="{BB962C8B-B14F-4D97-AF65-F5344CB8AC3E}">
        <p14:creationId xmlns:p14="http://schemas.microsoft.com/office/powerpoint/2010/main" val="98627504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67AFE2C-E3D5-4712-967F-268D430F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FUTURE SPELL DIRECTION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6758E67-C6E9-4436-893F-0EC0A23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8631D-EF18-4878-96BD-2B6157E7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D0D3B6-7066-4692-8DA1-00A33728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22431"/>
                </a:solidFill>
              </a:defRPr>
            </a:pPr>
            <a:r>
              <a:rPr sz="3150" b="1">
                <a:solidFill>
                  <a:srgbClr val="122431"/>
                </a:solidFill>
              </a:rPr>
              <a:t>A school and casting level can eventually offer several player-chosen spells.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6AA710C3-DD3E-4BB3-ADB8-4C013173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067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E98C0E3-B853-4C38-B122-9044774D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5067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2CE5BBBE-FD67-4202-8FB0-EBAA9CE2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B6A73"/>
                </a:solidFill>
              </a:defRPr>
            </a:pPr>
            <a:r>
              <a:rPr sz="1425" b="1">
                <a:solidFill>
                  <a:srgbClr val="5B6A73"/>
                </a:solidFill>
              </a:rPr>
              <a:t>AT A SCHOOL + LEVEL</a:t>
            </a:r>
          </a:p>
        </p:txBody>
      </p:sp>
      <p:sp>
        <p:nvSpPr>
          <p:cNvPr id="8" name="head">
            <a:extLst xmlns:a="http://schemas.openxmlformats.org/drawingml/2006/main">
              <a:ext uri="{FF2B5EF4-FFF2-40B4-BE49-F238E27FC236}">
                <a16:creationId xmlns:a16="http://schemas.microsoft.com/office/drawing/2014/main" id="{07BB4808-320E-41E3-8996-ADFE5BEE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Choose a spell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4AF762E-7AFF-426C-BA86-FB1B0190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Multiple spell options for the resolved school and level.</a:t>
            </a:r>
          </a:p>
        </p:txBody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00AB40CA-55D5-46C1-AA1A-18984CBE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9664C8"/>
                </a:solidFill>
              </a:defRPr>
            </a:pPr>
            <a:r>
              <a:rPr sz="1425" b="1">
                <a:solidFill>
                  <a:srgbClr val="9664C8"/>
                </a:solidFill>
              </a:rPr>
              <a:t>IN THE WORLD</a:t>
            </a:r>
          </a:p>
        </p:txBody>
      </p:sp>
      <p:sp>
        <p:nvSpPr>
          <p:cNvPr id="11" name="head">
            <a:extLst xmlns:a="http://schemas.openxmlformats.org/drawingml/2006/main">
              <a:ext uri="{FF2B5EF4-FFF2-40B4-BE49-F238E27FC236}">
                <a16:creationId xmlns:a16="http://schemas.microsoft.com/office/drawing/2014/main" id="{55E1AB20-B03B-498C-A37F-3969EAC4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22431"/>
                </a:solidFill>
              </a:defRPr>
            </a:pPr>
            <a:r>
              <a:rPr sz="2175" b="1">
                <a:solidFill>
                  <a:srgbClr val="122431"/>
                </a:solidFill>
              </a:rPr>
              <a:t>Collect the repertoire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EDDB87B-C43F-4E3E-B6F4-E0D24B85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How spells are found and what they do remains to be designed.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31885F70-328C-45FF-8E42-FA58096E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664C8"/>
                </a:solidFill>
              </a:defRPr>
            </a:pPr>
            <a:r>
              <a:rPr sz="1800" b="1">
                <a:solidFill>
                  <a:srgbClr val="9664C8"/>
                </a:solidFill>
              </a:rPr>
              <a:t>Future direction for the rough pitch—not current prototype evidence.</a:t>
            </a:r>
          </a:p>
        </p:txBody>
      </p:sp>
    </p:spTree>
    <p:extLst>
      <p:ext uri="{BB962C8B-B14F-4D97-AF65-F5344CB8AC3E}">
        <p14:creationId xmlns:p14="http://schemas.microsoft.com/office/powerpoint/2010/main" val="13130996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F9207C0B-67FD-44AA-8608-0C479C3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849C9168-6AC2-4AE3-AC25-F799E003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1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AC4F6B2-29F4-4E19-B3D4-BAE1BA5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HEAT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D580DBAF-76C1-4BD7-A4BC-77847F8B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Spending orbs turns the same system into a faster execution test.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B1EBC9-0458-4645-AA87-C369BF2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6715303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3A07516-666E-4FFD-A580-F0E48E03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HEAT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5DEADFB-DFB2-4DEB-AA4F-F4C07C59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4DB72-07AE-4040-846A-DB6F3190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91219C-6DD3-40B0-8413-B170393C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22431"/>
                </a:solidFill>
              </a:defRPr>
            </a:pPr>
            <a:r>
              <a:rPr sz="3225" b="1">
                <a:solidFill>
                  <a:srgbClr val="122431"/>
                </a:solidFill>
              </a:rPr>
              <a:t>The more orbs the player consumes, the faster combat becomes.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8338F12-1141-4678-81FF-AAD35D18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DAE6942-6040-4347-99F6-27C9FFD6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257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">
            <a:extLst xmlns:a="http://schemas.openxmlformats.org/drawingml/2006/main">
              <a:ext uri="{FF2B5EF4-FFF2-40B4-BE49-F238E27FC236}">
                <a16:creationId xmlns:a16="http://schemas.microsoft.com/office/drawing/2014/main" id="{76E4250B-E9DF-49DD-902A-1CA80F6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Consume orbs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BA6947A-518A-4016-8AF6-E9F0A519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Casting converts built resources into 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0508C-040E-42E1-B15D-52123AA1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623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8627E4D5-0240-477C-9A56-D8CADE84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9F49D9F0-00C4-46FB-9962-87EE5F4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257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1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ad">
            <a:extLst xmlns:a="http://schemas.openxmlformats.org/drawingml/2006/main">
              <a:ext uri="{FF2B5EF4-FFF2-40B4-BE49-F238E27FC236}">
                <a16:creationId xmlns:a16="http://schemas.microsoft.com/office/drawing/2014/main" id="{578011C7-BBFF-4C92-89D9-CC158707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Raise Heat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02D80D85-4AD9-48E6-BF63-A0387D4A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Heat climbs as more orbs are spent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F0DC2-F862-4B56-93C9-68A9784C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8B948DE1-63CF-408F-84EE-3C3BEE6A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7DE70531-9344-4775-9C23-B7DB101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257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ead">
            <a:extLst xmlns:a="http://schemas.openxmlformats.org/drawingml/2006/main">
              <a:ext uri="{FF2B5EF4-FFF2-40B4-BE49-F238E27FC236}">
                <a16:creationId xmlns:a16="http://schemas.microsoft.com/office/drawing/2014/main" id="{65961807-EDE7-4E30-8009-BA43FF69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2431"/>
                </a:solidFill>
              </a:defRPr>
            </a:pPr>
            <a:r>
              <a:rPr sz="1950" b="1">
                <a:solidFill>
                  <a:srgbClr val="122431"/>
                </a:solidFill>
              </a:rPr>
              <a:t>Accelerate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A696EFCF-2C19-44C8-9CF1-928A398E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A73"/>
                </a:solidFill>
              </a:defRPr>
            </a:pPr>
            <a:r>
              <a:rPr sz="1500" b="0">
                <a:solidFill>
                  <a:srgbClr val="5B6A73"/>
                </a:solidFill>
              </a:rPr>
              <a:t>Combos and Casting execute faster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D3FE8352-F26B-498F-9E4B-625C7F8B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22431"/>
                </a:solidFill>
              </a:defRPr>
            </a:pPr>
            <a:r>
              <a:rPr sz="1800" b="1">
                <a:solidFill>
                  <a:srgbClr val="122431"/>
                </a:solidFill>
              </a:rPr>
              <a:t>Heat does not add a separate game; it raises the execution demand of the melee-magic system.</a:t>
            </a:r>
          </a:p>
        </p:txBody>
      </p:sp>
    </p:spTree>
    <p:extLst>
      <p:ext uri="{BB962C8B-B14F-4D97-AF65-F5344CB8AC3E}">
        <p14:creationId xmlns:p14="http://schemas.microsoft.com/office/powerpoint/2010/main" val="65682066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2DF1FEC-AF76-4ABF-8586-CDE3D103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52EB961E-7059-42E7-B578-6C35B15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6E000FFC-445C-42CE-BB06-4479EEB7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22431"/>
                </a:solidFill>
              </a:defRPr>
            </a:pPr>
            <a:r>
              <a:rPr sz="4200" b="1">
                <a:solidFill>
                  <a:srgbClr val="122431"/>
                </a:solidFill>
              </a:rPr>
              <a:t>THE 20-HOUR GAME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7F8FEB69-9A1E-479B-A014-F2BA9435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A73"/>
                </a:solidFill>
              </a:defRPr>
            </a:pPr>
            <a:r>
              <a:rPr sz="2025" b="0">
                <a:solidFill>
                  <a:srgbClr val="5B6A73"/>
                </a:solidFill>
              </a:rPr>
              <a:t>The combat toy is defined; the full experience around it is the next design problem.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2FB1B4-9ACA-4D93-9797-B3381A1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5586509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FFD2B476-BCAC-48A5-8769-89030466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OPEN FULL-GAME QUESTIONS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506D889-9AD8-455A-8397-9CA1A856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D72B8-ED4E-4920-BC6F-14EDD354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27E574-D22D-4E58-9EDF-7902B09E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22431"/>
                </a:solidFill>
              </a:defRPr>
            </a:pPr>
            <a:r>
              <a:rPr sz="3150" b="1">
                <a:solidFill>
                  <a:srgbClr val="122431"/>
                </a:solidFill>
              </a:rPr>
              <a:t>The rough pitch should expose these unanswered questions—not conceal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0E1C6-DD88-4D39-9D71-84E2ED6B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open-dot">
            <a:extLst xmlns:a="http://schemas.openxmlformats.org/drawingml/2006/main">
              <a:ext uri="{FF2B5EF4-FFF2-40B4-BE49-F238E27FC236}">
                <a16:creationId xmlns:a16="http://schemas.microsoft.com/office/drawing/2014/main" id="{7A3BCC91-7DE2-4231-BC8F-071E40C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7" name="topic">
            <a:extLst xmlns:a="http://schemas.openxmlformats.org/drawingml/2006/main">
              <a:ext uri="{FF2B5EF4-FFF2-40B4-BE49-F238E27FC236}">
                <a16:creationId xmlns:a16="http://schemas.microsoft.com/office/drawing/2014/main" id="{7DD86900-A4D9-40A0-83CA-2F0BD4D8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World and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F6575-3128-4B6F-A25D-DB36CD4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open-dot">
            <a:extLst xmlns:a="http://schemas.openxmlformats.org/drawingml/2006/main">
              <a:ext uri="{FF2B5EF4-FFF2-40B4-BE49-F238E27FC236}">
                <a16:creationId xmlns:a16="http://schemas.microsoft.com/office/drawing/2014/main" id="{6A3B6F86-2826-436B-9285-D26A3E0B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19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10" name="topic">
            <a:extLst xmlns:a="http://schemas.openxmlformats.org/drawingml/2006/main">
              <a:ext uri="{FF2B5EF4-FFF2-40B4-BE49-F238E27FC236}">
                <a16:creationId xmlns:a16="http://schemas.microsoft.com/office/drawing/2014/main" id="{AD929EFC-C667-4F5D-AA9F-65A9BCFC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Narrative role and 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DDDF0-76C7-4EDD-9FB9-C133531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open-dot">
            <a:extLst xmlns:a="http://schemas.openxmlformats.org/drawingml/2006/main">
              <a:ext uri="{FF2B5EF4-FFF2-40B4-BE49-F238E27FC236}">
                <a16:creationId xmlns:a16="http://schemas.microsoft.com/office/drawing/2014/main" id="{27A6AEF3-E35A-40C0-92D8-6DF8AF36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13" name="topic">
            <a:extLst xmlns:a="http://schemas.openxmlformats.org/drawingml/2006/main">
              <a:ext uri="{FF2B5EF4-FFF2-40B4-BE49-F238E27FC236}">
                <a16:creationId xmlns:a16="http://schemas.microsoft.com/office/drawing/2014/main" id="{B0778322-5211-4C53-ACA3-FC5EBB4C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Progression across 20 hours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6BFD4-D895-4DC6-88D6-8ACEACC4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open-dot">
            <a:extLst xmlns:a="http://schemas.openxmlformats.org/drawingml/2006/main">
              <a:ext uri="{FF2B5EF4-FFF2-40B4-BE49-F238E27FC236}">
                <a16:creationId xmlns:a16="http://schemas.microsoft.com/office/drawing/2014/main" id="{C0E4C9CC-5941-4A15-85E4-0AD54944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16" name="topic">
            <a:extLst xmlns:a="http://schemas.openxmlformats.org/drawingml/2006/main">
              <a:ext uri="{FF2B5EF4-FFF2-40B4-BE49-F238E27FC236}">
                <a16:creationId xmlns:a16="http://schemas.microsoft.com/office/drawing/2014/main" id="{72070D55-B605-42DD-93F6-3173A20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China and Ubisoft Shanghai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158DB-26DE-463E-A81A-8B7D72E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8" name="open-dot">
            <a:extLst xmlns:a="http://schemas.openxmlformats.org/drawingml/2006/main">
              <a:ext uri="{FF2B5EF4-FFF2-40B4-BE49-F238E27FC236}">
                <a16:creationId xmlns:a16="http://schemas.microsoft.com/office/drawing/2014/main" id="{A054692C-EF9C-446E-992C-D688BBC2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4C8"/>
          </a:solidFill>
          <a:ln xmlns:a="http://schemas.openxmlformats.org/drawingml/2006/main" w="0">
            <a:solidFill>
              <a:srgbClr val="9664C8"/>
            </a:solidFill>
            <a:prstDash val="solid"/>
          </a:ln>
        </p:spPr>
      </p:sp>
      <p:sp>
        <p:nvSpPr>
          <p:cNvPr id="19" name="topic">
            <a:extLst xmlns:a="http://schemas.openxmlformats.org/drawingml/2006/main">
              <a:ext uri="{FF2B5EF4-FFF2-40B4-BE49-F238E27FC236}">
                <a16:creationId xmlns:a16="http://schemas.microsoft.com/office/drawing/2014/main" id="{1C28C966-13BE-473E-A938-1D584000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22431"/>
                </a:solidFill>
              </a:defRPr>
            </a:pPr>
            <a:r>
              <a:rPr sz="1875" b="0">
                <a:solidFill>
                  <a:srgbClr val="122431"/>
                </a:solidFill>
              </a:rPr>
              <a:t>Audience, platform, and business model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3F0577-8DC1-4427-8DD5-C4FF71F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673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664C8"/>
                </a:solidFill>
              </a:defRPr>
            </a:pPr>
            <a:r>
              <a:rPr sz="1800" b="1">
                <a:solidFill>
                  <a:srgbClr val="9664C8"/>
                </a:solidFill>
              </a:rPr>
              <a:t>For the friend test, these are prompts for feedback rather than invented answers.</a:t>
            </a:r>
          </a:p>
        </p:txBody>
      </p:sp>
    </p:spTree>
    <p:extLst>
      <p:ext uri="{BB962C8B-B14F-4D97-AF65-F5344CB8AC3E}">
        <p14:creationId xmlns:p14="http://schemas.microsoft.com/office/powerpoint/2010/main" val="68049490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27FA2618-8400-4978-8BA7-E2E232B9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PROTOTYPE REVEAL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6BD5D6F-E794-44E9-A1EA-7018D9AF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C8DEA-69F2-43BB-8686-D14D246C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491BA0-C007-4741-9DEF-557AB8AA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122431"/>
                </a:solidFill>
              </a:defRPr>
            </a:pPr>
            <a:r>
              <a:rPr sz="3825" b="1">
                <a:solidFill>
                  <a:srgbClr val="122431"/>
                </a:solidFill>
              </a:rPr>
              <a:t>Now see the system working.</a:t>
            </a:r>
          </a:p>
        </p:txBody>
      </p:sp>
      <p:sp>
        <p:nvSpPr>
          <p:cNvPr id="5" name="reveal-field">
            <a:extLst xmlns:a="http://schemas.openxmlformats.org/drawingml/2006/main">
              <a:ext uri="{FF2B5EF4-FFF2-40B4-BE49-F238E27FC236}">
                <a16:creationId xmlns:a16="http://schemas.microsoft.com/office/drawing/2014/main" id="{5584E805-FB80-4C95-9E72-38FAFB77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veal">
            <a:extLst xmlns:a="http://schemas.openxmlformats.org/drawingml/2006/main">
              <a:ext uri="{FF2B5EF4-FFF2-40B4-BE49-F238E27FC236}">
                <a16:creationId xmlns:a16="http://schemas.microsoft.com/office/drawing/2014/main" id="{B90B8755-130F-4D35-8294-5745F614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LIVE PROTOTYPE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6AA88A2-CA7F-4511-A24F-BB400B9B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A73"/>
                </a:solidFill>
              </a:defRPr>
            </a:pPr>
            <a:r>
              <a:rPr sz="1800" b="0">
                <a:solidFill>
                  <a:srgbClr val="5B6A73"/>
                </a:solidFill>
              </a:rPr>
              <a:t>Use this slide as the clean handoff to the hidden working build.</a:t>
            </a:r>
          </a:p>
        </p:txBody>
      </p:sp>
    </p:spTree>
    <p:extLst>
      <p:ext uri="{BB962C8B-B14F-4D97-AF65-F5344CB8AC3E}">
        <p14:creationId xmlns:p14="http://schemas.microsoft.com/office/powerpoint/2010/main" val="14743889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D83EF6F-7221-4FBC-9C6B-7647DB4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DISCUSSION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AC854D3-C99E-4A5E-8A91-FC7F2EB4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A73"/>
                </a:solidFill>
              </a:defRPr>
            </a:pPr>
            <a:r>
              <a:rPr sz="1050" b="1">
                <a:solidFill>
                  <a:srgbClr val="5B6A73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5FAC4-9D47-4C34-BC65-DDD8C9C1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3A64CE-9A64-4078-93CF-88B9EBD8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22431"/>
                </a:solidFill>
              </a:defRPr>
            </a:pPr>
            <a:r>
              <a:rPr sz="3375" b="1">
                <a:solidFill>
                  <a:srgbClr val="122431"/>
                </a:solidFill>
              </a:rPr>
              <a:t>What did the game become in your mind?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ACE38-F78F-4894-BE79-BC596631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6" name="dash">
            <a:extLst xmlns:a="http://schemas.openxmlformats.org/drawingml/2006/main">
              <a:ext uri="{FF2B5EF4-FFF2-40B4-BE49-F238E27FC236}">
                <a16:creationId xmlns:a16="http://schemas.microsoft.com/office/drawing/2014/main" id="{615BC95D-F3A0-4BCC-82AE-0C529693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88DD7BBB-BF79-46C6-949C-9D25181E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22431"/>
                </a:solidFill>
              </a:defRPr>
            </a:pPr>
            <a:r>
              <a:rPr sz="1800" b="0">
                <a:solidFill>
                  <a:srgbClr val="122431"/>
                </a:solidFill>
              </a:rPr>
              <a:t>What do you think the player is mastering?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63220-D27A-4700-ACDF-A791A374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9" name="dash">
            <a:extLst xmlns:a="http://schemas.openxmlformats.org/drawingml/2006/main">
              <a:ext uri="{FF2B5EF4-FFF2-40B4-BE49-F238E27FC236}">
                <a16:creationId xmlns:a16="http://schemas.microsoft.com/office/drawing/2014/main" id="{60FC88CA-C3D7-4DC8-A8F1-40E63C6B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0" name="question">
            <a:extLst xmlns:a="http://schemas.openxmlformats.org/drawingml/2006/main">
              <a:ext uri="{FF2B5EF4-FFF2-40B4-BE49-F238E27FC236}">
                <a16:creationId xmlns:a16="http://schemas.microsoft.com/office/drawing/2014/main" id="{607964BE-F0B5-49B7-9362-496913DE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22431"/>
                </a:solidFill>
              </a:defRPr>
            </a:pPr>
            <a:r>
              <a:rPr sz="1800" b="0">
                <a:solidFill>
                  <a:srgbClr val="122431"/>
                </a:solidFill>
              </a:rPr>
              <a:t>Which mechanic felt distinctive rather than merely complicated?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C8DFD-6289-45E6-BB36-8D260B00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2" name="dash">
            <a:extLst xmlns:a="http://schemas.openxmlformats.org/drawingml/2006/main">
              <a:ext uri="{FF2B5EF4-FFF2-40B4-BE49-F238E27FC236}">
                <a16:creationId xmlns:a16="http://schemas.microsoft.com/office/drawing/2014/main" id="{844746BD-23D2-465E-90DC-182413BE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3" name="question">
            <a:extLst xmlns:a="http://schemas.openxmlformats.org/drawingml/2006/main">
              <a:ext uri="{FF2B5EF4-FFF2-40B4-BE49-F238E27FC236}">
                <a16:creationId xmlns:a16="http://schemas.microsoft.com/office/drawing/2014/main" id="{41B9ACA2-D899-48C5-8934-742FAAA3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22431"/>
                </a:solidFill>
              </a:defRPr>
            </a:pPr>
            <a:r>
              <a:rPr sz="1800" b="0">
                <a:solidFill>
                  <a:srgbClr val="122431"/>
                </a:solidFill>
              </a:rPr>
              <a:t>What game do you think surrounds this combat toy?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69D4A-D495-483A-8940-158C8C1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7"/>
            </a:solidFill>
            <a:prstDash val="solid"/>
          </a:ln>
        </p:spPr>
      </p:sp>
      <p:sp>
        <p:nvSpPr>
          <p:cNvPr id="15" name="dash">
            <a:extLst xmlns:a="http://schemas.openxmlformats.org/drawingml/2006/main">
              <a:ext uri="{FF2B5EF4-FFF2-40B4-BE49-F238E27FC236}">
                <a16:creationId xmlns:a16="http://schemas.microsoft.com/office/drawing/2014/main" id="{61D7863B-01CA-469D-9E19-3863C0C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—</a:t>
            </a:r>
          </a:p>
        </p:txBody>
      </p:sp>
      <p:sp>
        <p:nvSpPr>
          <p:cNvPr id="16" name="question">
            <a:extLst xmlns:a="http://schemas.openxmlformats.org/drawingml/2006/main">
              <a:ext uri="{FF2B5EF4-FFF2-40B4-BE49-F238E27FC236}">
                <a16:creationId xmlns:a16="http://schemas.microsoft.com/office/drawing/2014/main" id="{4B86A42E-22FD-44A4-ACC3-54BD73E5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22431"/>
                </a:solidFill>
              </a:defRPr>
            </a:pPr>
            <a:r>
              <a:rPr sz="1800" b="0">
                <a:solidFill>
                  <a:srgbClr val="122431"/>
                </a:solidFill>
              </a:rPr>
              <a:t>What would you need answered before you believed the 20-hour game?</a:t>
            </a:r>
          </a:p>
        </p:txBody>
      </p:sp>
    </p:spTree>
    <p:extLst>
      <p:ext uri="{BB962C8B-B14F-4D97-AF65-F5344CB8AC3E}">
        <p14:creationId xmlns:p14="http://schemas.microsoft.com/office/powerpoint/2010/main" val="1569475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2026-08-27T03:06:41.2560000Z</dcterms:created>
  <dcterms:modified xsi:type="dcterms:W3CDTF">2026-08-27T03:06:41.2560000Z</dcterms:modified>
</coreProperties>
</file>